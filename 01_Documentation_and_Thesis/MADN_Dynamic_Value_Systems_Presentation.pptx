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E5FF"/>
                </a:solidFill>
              </a:defRPr>
            </a:pPr>
            <a:r>
              <a:t>SOVEREIGN EDGE COMPUTING &amp; DECENTRALIZED VALUATION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Modular Adaptive Data Node</a:t>
            </a:r>
            <a:br/>
            <a:r>
              <a:t>for Dynamic Value Systems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Unlocking Exponential Value in Idle Everyday Compute, Multi-Gigabit Local Mesh, and Continuous Algorithmic Pricing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🚀 Zero Cloud Subscriptions • 🔒 AES-256-GCM Vault • ⚡ Wi-Fi 7 Sub-Millisecond Mesh • 🌾 Precision Agri &amp; Touch 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Hardware &amp; Bandwidth Revolution: 1999 vs.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⏳ 1999: The Centralized Cloud Era Begins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RAM &amp; Memory: </a:t>
            </a:r>
            <a:r>
              <a:rPr b="0">
                <a:solidFill>
                  <a:srgbClr val="94A3B8"/>
                </a:solidFill>
              </a:rPr>
              <a:t>64 MB – 128 MB SDRAM ($150+). Barely enough to keep a single application in memory.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Network Bandwidth: </a:t>
            </a:r>
            <a:r>
              <a:rPr b="0">
                <a:solidFill>
                  <a:srgbClr val="94A3B8"/>
                </a:solidFill>
              </a:rPr>
              <a:t>56 kbps Dial-up or 10 Mbps Wired Ethernet. Severely congested copper lines.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Network Latency: </a:t>
            </a:r>
            <a:r>
              <a:rPr b="0">
                <a:solidFill>
                  <a:srgbClr val="94A3B8"/>
                </a:solidFill>
              </a:rPr>
              <a:t>50 ms – 150 ms roundtrips. High packet loss and expensive long-distance routes.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Storage Throughput: </a:t>
            </a:r>
            <a:r>
              <a:rPr b="0">
                <a:solidFill>
                  <a:srgbClr val="94A3B8"/>
                </a:solidFill>
              </a:rPr>
              <a:t>10 GB Spinning IDE HDD @ 5–10 MB/s. Fragile moving magnetic heads.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Architectural Result: </a:t>
            </a:r>
            <a:r>
              <a:rPr b="0">
                <a:solidFill>
                  <a:srgbClr val="94A3B8"/>
                </a:solidFill>
              </a:rPr>
              <a:t>Centralized server farms were mandatory because client devices were too weak to 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E5FF"/>
                </a:solidFill>
              </a:defRPr>
            </a:pPr>
            <a:r>
              <a:t>⚡ Today: Ubiquitous Edge Supercomputing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RAM &amp; Memory: </a:t>
            </a:r>
            <a:r>
              <a:rPr b="0">
                <a:solidFill>
                  <a:srgbClr val="94A3B8"/>
                </a:solidFill>
              </a:rPr>
              <a:t>16 GB – 32 GB LPDDR5X (500x capacity, 100x speed) in pocket phones and mini-PCs.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Network Bandwidth: </a:t>
            </a:r>
            <a:r>
              <a:rPr b="0">
                <a:solidFill>
                  <a:srgbClr val="94A3B8"/>
                </a:solidFill>
              </a:rPr>
              <a:t>Wi-Fi 7 (802.11be) delivering 5,000 – 30,000 Mbps over the air. Zero cables needed.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Network Latency: </a:t>
            </a:r>
            <a:r>
              <a:rPr b="0">
                <a:solidFill>
                  <a:srgbClr val="94A3B8"/>
                </a:solidFill>
              </a:rPr>
              <a:t>Sub-2 ms local mesh roundtrips. 50x lower latency than remote cloud servers.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Storage Throughput: </a:t>
            </a:r>
            <a:r>
              <a:rPr b="0">
                <a:solidFill>
                  <a:srgbClr val="94A3B8"/>
                </a:solidFill>
              </a:rPr>
              <a:t>1 TB – 2 TB NVMe PCIe 4.0 SSD @ 7,000 MB/s (1,000x I/O speed increase).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The Opportunity: </a:t>
            </a:r>
            <a:r>
              <a:rPr b="0">
                <a:solidFill>
                  <a:srgbClr val="94A3B8"/>
                </a:solidFill>
              </a:rPr>
              <a:t>Consumer edge devices now outgun 1999 datacenters by orders of magnitude!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Problem Statement: Centralized Cloud Vulnerabilities &amp; Local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EF4444"/>
                </a:solidFill>
              </a:defRPr>
            </a:pPr>
            <a:r>
              <a:t>🌐 1. WAN &amp; Internet Dependency Trap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Single Points of Failure: </a:t>
            </a:r>
            <a:r>
              <a:rPr b="0">
                <a:solidFill>
                  <a:srgbClr val="94A3B8"/>
                </a:solidFill>
              </a:rPr>
              <a:t>Reliance on distant cloud servers causes total point-of-sale and transaction collapse during fiber cuts, ISP blackouts, or local power grid instability.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Latency &amp; Cost Inefficiency: </a:t>
            </a:r>
            <a:r>
              <a:rPr b="0">
                <a:solidFill>
                  <a:srgbClr val="94A3B8"/>
                </a:solidFill>
              </a:rPr>
              <a:t>Local micro-transactions travel thousands of kilometers across global backbones, incurring high egress tolls and unacceptable network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F59E0B"/>
                </a:solidFill>
              </a:defRPr>
            </a:pPr>
            <a:r>
              <a:t>💱 2. Multi-Currency Friction &amp; Coin Scarcity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Small Change Crisis: </a:t>
            </a:r>
            <a:r>
              <a:rPr b="0">
                <a:solidFill>
                  <a:srgbClr val="94A3B8"/>
                </a:solidFill>
              </a:rPr>
              <a:t>In multi-currency regimes (USD, ZAR, Zimbabwe Gold ZiG), physical small-denomination coins are perpetually scarce, stalling retail commerce.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Forced Overpayments: </a:t>
            </a:r>
            <a:r>
              <a:rPr b="0">
                <a:solidFill>
                  <a:srgbClr val="94A3B8"/>
                </a:solidFill>
              </a:rPr>
              <a:t>Shoppers are forced into arbitrary unwanted purchases (sweets, matches) or loose change forfeit, eroding purchasing power and merchant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7C4DFF"/>
                </a:solidFill>
              </a:defRPr>
            </a:pPr>
            <a:r>
              <a:t>🌾 3. Static Pricing &amp; Perishable Food Spoilage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Inventory Depreciation: </a:t>
            </a:r>
            <a:r>
              <a:rPr b="0">
                <a:solidFill>
                  <a:srgbClr val="94A3B8"/>
                </a:solidFill>
              </a:rPr>
              <a:t>Fresh agricultural produce (tomatoes, dairy, leafy greens) depreciates rapidly, but conventional static POS systems fail to adjust prices dynamically.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Economic Deadweight Loss: </a:t>
            </a:r>
            <a:r>
              <a:rPr b="0">
                <a:solidFill>
                  <a:srgbClr val="94A3B8"/>
                </a:solidFill>
              </a:rPr>
              <a:t>Lack of autonomous, shelf-life-aware algorithmic discounting results in massive spoilage, food wastage, and merchant revenue erosion.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0E5FF"/>
                </a:solidFill>
              </a:defRPr>
            </a:pPr>
            <a:r>
              <a:t>🔒 4. Cloud Surveillance &amp; Sovereign Data Loss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Vendor Lock-in &amp; Data Leakage: </a:t>
            </a:r>
            <a:r>
              <a:rPr b="0">
                <a:solidFill>
                  <a:srgbClr val="94A3B8"/>
                </a:solidFill>
              </a:rPr>
              <a:t>Small businesses and agricultural communities surrender sensitive financial logs and operational telemetry to foreign SaaS platforms.</a:t>
            </a:r>
          </a:p>
          <a:p>
            <a:pPr>
              <a:spcAft>
                <a:spcPts val="400"/>
              </a:spcAft>
              <a:defRPr b="1" sz="1050">
                <a:solidFill>
                  <a:srgbClr val="FFFFFF"/>
                </a:solidFill>
              </a:defRPr>
            </a:pPr>
            <a:r>
              <a:t>• Recurring SaaS Rent: </a:t>
            </a:r>
            <a:r>
              <a:rPr b="0">
                <a:solidFill>
                  <a:srgbClr val="94A3B8"/>
                </a:solidFill>
              </a:rPr>
              <a:t>Escalating monthly software subscriptions drain working capital from developing edge economies while offering zero offline operational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Research Objectives: Engineering Sovereign Edge 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🎯 PRIMARY RESEARCH OBJECTIVE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To architect, develop, and empirically validate an offline-first Modular Adaptive Data Node (MADN) ecosystem that leverages idle commodity edge hardware and local high-bandwidth wireless mesh to enable autonomous, tamper-evident dynamic valuation, multi-tender settlement, and closed-loop agro-industrial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14600" cy="37490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2402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</a:defRPr>
            </a:pPr>
            <a:r>
              <a:t>RO-1: Tri-Node Edge Mesh Architecture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Zero-Cloud Decoupling: </a:t>
            </a:r>
            <a:r>
              <a:rPr b="0">
                <a:solidFill>
                  <a:srgbClr val="94A3B8"/>
                </a:solidFill>
              </a:rPr>
              <a:t>Engineer an autonomous tri-node separation (Operator, Data Node, Vault Node).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Multicast Mesh: </a:t>
            </a:r>
            <a:r>
              <a:rPr b="0">
                <a:solidFill>
                  <a:srgbClr val="94A3B8"/>
                </a:solidFill>
              </a:rPr>
              <a:t>Implement zero-config UDP multicast peer discovery (224.0.0.251:8001).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ACID Concurrency: </a:t>
            </a:r>
            <a:r>
              <a:rPr b="0">
                <a:solidFill>
                  <a:srgbClr val="94A3B8"/>
                </a:solidFill>
              </a:rPr>
              <a:t>Deliver sub-millisecond SQLite WAL transaction throughput under multi-terminal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560320"/>
            <a:ext cx="2514600" cy="37490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697480"/>
            <a:ext cx="22402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</a:defRPr>
            </a:pPr>
            <a:r>
              <a:t>RO-2: Dynamic Value &amp; Pricing Engine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Perishable Decay: </a:t>
            </a:r>
            <a:r>
              <a:rPr b="0">
                <a:solidFill>
                  <a:srgbClr val="94A3B8"/>
                </a:solidFill>
              </a:rPr>
              <a:t>Formulate real-time continuous exponential price decay algorithms: P(t) = P_cost + (P_base - P_cost)e^(-λt).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Split-Tender Settlement: </a:t>
            </a:r>
            <a:r>
              <a:rPr b="0">
                <a:solidFill>
                  <a:srgbClr val="94A3B8"/>
                </a:solidFill>
              </a:rPr>
              <a:t>Compute multi-currency basket checkouts across USD, ZAR, and Zimbabwe Gold (ZiG).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Cryptographic Vouchers: </a:t>
            </a:r>
            <a:r>
              <a:rPr b="0">
                <a:solidFill>
                  <a:srgbClr val="94A3B8"/>
                </a:solidFill>
              </a:rPr>
              <a:t>Mint offline HMAC-SHA256 QR change vouchers to eliminate physical coin shortages.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560320"/>
            <a:ext cx="2514600" cy="37490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697480"/>
            <a:ext cx="22402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7C4DFF"/>
                </a:solidFill>
              </a:defRPr>
            </a:pPr>
            <a:r>
              <a:t>RO-3: Closed-Loop Precision Agri-Sync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Geospatial Plot Tracking: </a:t>
            </a:r>
            <a:r>
              <a:rPr b="0">
                <a:solidFill>
                  <a:srgbClr val="94A3B8"/>
                </a:solidFill>
              </a:rPr>
              <a:t>Map farm plots, soil metrics, and Bulawayo micro-climates.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Input Ledgering: </a:t>
            </a:r>
            <a:r>
              <a:rPr b="0">
                <a:solidFill>
                  <a:srgbClr val="94A3B8"/>
                </a:solidFill>
              </a:rPr>
              <a:t>Track unit production costs across seeds, fertilizer, and labor.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Harvest POS Bridge: </a:t>
            </a:r>
            <a:r>
              <a:rPr b="0">
                <a:solidFill>
                  <a:srgbClr val="94A3B8"/>
                </a:solidFill>
              </a:rPr>
              <a:t>Automatically convert harvests into POS inventory with auto-generated SKUs and revenue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560320"/>
            <a:ext cx="2514600" cy="37490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697480"/>
            <a:ext cx="22402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</a:defRPr>
            </a:pPr>
            <a:r>
              <a:t>RO-4: Zero-Exposure Security &amp; Portability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RAM Master Keys: </a:t>
            </a:r>
            <a:r>
              <a:rPr b="0">
                <a:solidFill>
                  <a:srgbClr val="94A3B8"/>
                </a:solidFill>
              </a:rPr>
              <a:t>Derive ephemeral AES-256-GCM encryption keys in memory via Scrypt KDF.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Tamper-Proof Audit: </a:t>
            </a:r>
            <a:r>
              <a:rPr b="0">
                <a:solidFill>
                  <a:srgbClr val="94A3B8"/>
                </a:solidFill>
              </a:rPr>
              <a:t>Enforce mathematically chained SHA-256 audit trails.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</a:defRPr>
            </a:pPr>
            <a:r>
              <a:t>• Self-Replicating Nodes: </a:t>
            </a:r>
            <a:r>
              <a:rPr b="0">
                <a:solidFill>
                  <a:srgbClr val="94A3B8"/>
                </a:solidFill>
              </a:rPr>
              <a:t>Implement one-click portable node generation (node_generator.py) with zero database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Tri-Node Sovereign Architecture: Modular &amp; Composable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🖥️ 1. Operator Node (:8000)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Zero-installation VisionPro Dark Glass Web Client executing in any modern browser.</a:t>
            </a:r>
            <a:br/>
            <a:br/>
            <a:r>
              <a:t>• Dynamic real-time touch POS register.</a:t>
            </a:r>
            <a:br/>
            <a:r>
              <a:t>• Organic concentric glowing avatar profiles with client-side image compression.</a:t>
            </a:r>
            <a:br/>
            <a:r>
              <a:t>• Condition-gated progressive disclosure (Store Setup -&gt; POS -&gt; Marketplace).</a:t>
            </a:r>
            <a:br/>
            <a:r>
              <a:t>• Digital Receipt Vault &amp; QR scanner.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7C4DFF"/>
                </a:solidFill>
              </a:defRPr>
            </a:pPr>
            <a:r>
              <a:t>📡 2. Data Node (:8002)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Standalone storage, multicast peer discovery, and global currency collector.</a:t>
            </a:r>
            <a:br/>
            <a:br/>
            <a:r>
              <a:t>• UDP Multicast Heartbeats (224.0.0.251:8001) for zero-config local mesh discovery.</a:t>
            </a:r>
            <a:br/>
            <a:r>
              <a:t>• 170+ ISO Fiat &amp; 50+ Crypto Currency Catalog with air-gapped fallback.</a:t>
            </a:r>
            <a:br/>
            <a:r>
              <a:t>• Encrypted Key-Value store with AES-256-GCM data-at-rest protection.</a:t>
            </a:r>
            <a:br/>
            <a:r>
              <a:t>• Remote lifecycle &amp; maintenance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🔒 3. Vault Node (:8000)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Cryptographic coordinator &amp; extensible multi-currency tri-ledger database.</a:t>
            </a:r>
            <a:br/>
            <a:br/>
            <a:r>
              <a:t>• Scrypt KDF + TOTP Step-Up MFA authentication.</a:t>
            </a:r>
            <a:br/>
            <a:r>
              <a:t>• SQLite WAL concurrency with BEGIN IMMEDIATE transaction isolation.</a:t>
            </a:r>
            <a:br/>
            <a:r>
              <a:t>• Multi-Currency settlement: USD, ZAR, Zimbabwe Gold (ZiG / ZWG).</a:t>
            </a:r>
            <a:br/>
            <a:r>
              <a:t>• Self-Replicating Node Generator (node_generator.py) for new edge stores.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System Architectural Block Diagram &amp; Inter-Node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206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</a:defRPr>
            </a:pPr>
            <a:r>
              <a:t>🖥️ OPERATOR NODE (:8000)</a:t>
            </a:r>
            <a:br/>
            <a:r>
              <a:t>VisionPro Glass Frontend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VisionPro SPA Client: </a:t>
            </a:r>
            <a:r>
              <a:rPr b="0">
                <a:solidFill>
                  <a:srgbClr val="94A3B8"/>
                </a:solidFill>
              </a:rPr>
              <a:t>Vanilla ES6+, glassmorphism CSS, hardware canvas.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Touch POS &amp; Dynamic Catalog: </a:t>
            </a:r>
            <a:r>
              <a:rPr b="0">
                <a:solidFill>
                  <a:srgbClr val="94A3B8"/>
                </a:solidFill>
              </a:rPr>
              <a:t>Real-time pricing, search, quick cart.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Dynamic Subnav Controllers: </a:t>
            </a:r>
            <a:r>
              <a:rPr b="0">
                <a:solidFill>
                  <a:srgbClr val="94A3B8"/>
                </a:solidFill>
              </a:rPr>
              <a:t>Precondition state evaluation (N_biz, N_prod).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Organic Avatar Studio: </a:t>
            </a:r>
            <a:r>
              <a:rPr b="0">
                <a:solidFill>
                  <a:srgbClr val="94A3B8"/>
                </a:solidFill>
              </a:rPr>
              <a:t>createImageBitmap GPU scaling &amp; live preview.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Customer Receipt Vault: </a:t>
            </a:r>
            <a:r>
              <a:rPr b="0">
                <a:solidFill>
                  <a:srgbClr val="94A3B8"/>
                </a:solidFill>
              </a:rPr>
              <a:t>Encrypted digital receipt lookup &amp; QR scan.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Offline QR Voucher Terminal: </a:t>
            </a:r>
            <a:r>
              <a:rPr b="0">
                <a:solidFill>
                  <a:srgbClr val="94A3B8"/>
                </a:solidFill>
              </a:rPr>
              <a:t>Camera scan &amp; instant wallet redemption.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291840" cy="4206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</a:defRPr>
            </a:pPr>
            <a:r>
              <a:t>🔒 VAULT NODE (:8000)</a:t>
            </a:r>
            <a:br/>
            <a:r>
              <a:t>FastAPI &amp; Multi-Ledger Core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FastAPI REST Engine: </a:t>
            </a:r>
            <a:r>
              <a:rPr b="0">
                <a:solidFill>
                  <a:srgbClr val="94A3B8"/>
                </a:solidFill>
              </a:rPr>
              <a:t>Asynchronous endpoints, zero-cache headers, CSP.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Scrypt &amp; TOTP Auth Engine: </a:t>
            </a:r>
            <a:r>
              <a:rPr b="0">
                <a:solidFill>
                  <a:srgbClr val="94A3B8"/>
                </a:solidFill>
              </a:rPr>
              <a:t>Password hashing, session token cookies, tarpit.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SQLite WAL Tri-Ledger: </a:t>
            </a:r>
            <a:r>
              <a:rPr b="0">
                <a:solidFill>
                  <a:srgbClr val="94A3B8"/>
                </a:solidFill>
              </a:rPr>
              <a:t>ACID locks (BEGIN IMMEDIATE), B-tree indexes.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Dynamic Pricing Engine: </a:t>
            </a:r>
            <a:r>
              <a:rPr b="0">
                <a:solidFill>
                  <a:srgbClr val="94A3B8"/>
                </a:solidFill>
              </a:rPr>
              <a:t>Continuous exponential decay &amp; cost-floor bounds.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Multi-Tender Engine: </a:t>
            </a:r>
            <a:r>
              <a:rPr b="0">
                <a:solidFill>
                  <a:srgbClr val="94A3B8"/>
                </a:solidFill>
              </a:rPr>
              <a:t>Tri-currency basket split (USD, ZAR, ZiG).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Offline Voucher Signer: </a:t>
            </a:r>
            <a:r>
              <a:rPr b="0">
                <a:solidFill>
                  <a:srgbClr val="94A3B8"/>
                </a:solidFill>
              </a:rPr>
              <a:t>HMAC-SHA256 digital signature minting.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Node Generator Hub: </a:t>
            </a:r>
            <a:r>
              <a:rPr b="0">
                <a:solidFill>
                  <a:srgbClr val="94A3B8"/>
                </a:solidFill>
              </a:rPr>
              <a:t>node_generator.py self-replicating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291840" cy="4206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5087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7C4DFF"/>
                </a:solidFill>
              </a:defRPr>
            </a:pPr>
            <a:r>
              <a:t>📡 DATA NODE (:8002)</a:t>
            </a:r>
            <a:br/>
            <a:r>
              <a:t>Mesh Discovery &amp; Currency Vault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UDP Multicast Beacon: </a:t>
            </a:r>
            <a:r>
              <a:rPr b="0">
                <a:solidFill>
                  <a:srgbClr val="94A3B8"/>
                </a:solidFill>
              </a:rPr>
              <a:t>224.0.0.251:8001 heartbeat broadcast every 5s.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World Currency Registry: </a:t>
            </a:r>
            <a:r>
              <a:rPr b="0">
                <a:solidFill>
                  <a:srgbClr val="94A3B8"/>
                </a:solidFill>
              </a:rPr>
              <a:t>170+ ISO fiats + 50+ cryptos with offline cache.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Collision Validator: </a:t>
            </a:r>
            <a:r>
              <a:rPr b="0">
                <a:solidFill>
                  <a:srgbClr val="94A3B8"/>
                </a:solidFill>
              </a:rPr>
              <a:t>Multi-tier symbol &amp; namespace protection.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Encrypted KV Store: </a:t>
            </a:r>
            <a:r>
              <a:rPr b="0">
                <a:solidFill>
                  <a:srgbClr val="94A3B8"/>
                </a:solidFill>
              </a:rPr>
              <a:t>AES-256-GCM encrypted persistence at rest.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Lifecycle API: </a:t>
            </a:r>
            <a:r>
              <a:rPr b="0">
                <a:solidFill>
                  <a:srgbClr val="94A3B8"/>
                </a:solidFill>
              </a:rPr>
              <a:t>Remote activate/deactivate &amp; maintenance mode.</a:t>
            </a:r>
          </a:p>
          <a:p>
            <a:pPr>
              <a:spcAft>
                <a:spcPts val="300"/>
              </a:spcAft>
              <a:defRPr b="1" sz="1000">
                <a:solidFill>
                  <a:srgbClr val="FFFFFF"/>
                </a:solidFill>
              </a:defRPr>
            </a:pPr>
            <a:r>
              <a:t>• Telemetry Collector: </a:t>
            </a:r>
            <a:r>
              <a:rPr b="0">
                <a:solidFill>
                  <a:srgbClr val="94A3B8"/>
                </a:solidFill>
              </a:rPr>
              <a:t>LWW node position &amp; peer health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🔗 INTER-NODE PROTOCOLS &amp; DATA PIPELINES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① Operator ↔ Vault: JSON REST + HMAC-SHA256 Bearer &amp; HttpOnly Session Cookies  |  ② Vault ↔ Data Node: HTTP Collection Sync &amp; Collision Validation  |  ③ Data Node ↔ Mesh: UDP Multicast (224.0.0.251:8001) Zero-Config Beacon  |  ④ Vault ↔ Edge Device: Scrypt Derived AES-256-GCM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Dynamic Value Systems: Continuous Pricing &amp; Multi-Tender Settlement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E5FF"/>
                </a:solidFill>
              </a:defRPr>
            </a:pPr>
            <a:r>
              <a:t>📉 Continuous Exponential Price Decay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Perishable goods (fresh produce, milk, baked goods) automatically discount in real time based on shelf life while strictly protecting cost floors:</a:t>
            </a:r>
            <a:br/>
            <a:br/>
            <a:r>
              <a:t>P(t) = P_cost + (P_base - P_cost) * e^(-λ t)</a:t>
            </a:r>
            <a:br/>
            <a:r>
              <a:t>where λ = ln(2) / T_half_life</a:t>
            </a:r>
            <a:br/>
            <a:br/>
            <a:r>
              <a:t>• Eliminates food spoilage &amp; waste before expiration.</a:t>
            </a:r>
            <a:br/>
            <a:r>
              <a:t>• Maximizes inventory liquidation velocity.</a:t>
            </a:r>
            <a:br/>
            <a:r>
              <a:t>• Completely autonomous—no manual relabeling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💱 Tri-Currency Split Tender &amp; Offline Vouchers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mixed tender point-of-sale checkout:</a:t>
            </a:r>
            <a:br/>
            <a:br/>
            <a:r>
              <a:t>V_paid = T_USD + (T_ZAR / rate_ZAR) + (T_ZWG / rate_ZWG)</a:t>
            </a:r>
            <a:br/>
            <a:br/>
            <a:r>
              <a:t>• Solves Change Shortages: Mint cryptographic QR change vouchers when physical coins are unavailable.</a:t>
            </a:r>
            <a:br/>
            <a:r>
              <a:t>• Air-Gapped Verification: HMAC-SHA256 digital signatures prevent counterfeit vouchers and double-spends offline.</a:t>
            </a:r>
            <a:br/>
            <a:r>
              <a:t>• Instant Wallet Redemption: Customers can deposit voucher change into digital banking wallets with zero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Precision Agriculture: Autonomous Farm-to-Fork Value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🌱 Step 1: Fields &amp; Plots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Geospatial soil mapping, irrigation tracking, and real-time Bulawayo climate sensor integration. Track hectare yields directly on edge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7C4DFF"/>
                </a:solidFill>
              </a:defRPr>
            </a:pPr>
            <a:r>
              <a:t>🚜 Step 2: Crop Plantings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Structured lifecycle plans from germination to harvest. Fertilizer, labor, and fuel input ledgering linked to field plots.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📊 Step 3: Cost &amp; Price Calc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Automated unit cost calculation factoring seeds, labor, water, and margin targets. Calculates recommended base selling price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4688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🏪 Step 4: Harvest POS Sync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Harvested crops instantly populate store inventory catalogs. Automated dynamic SKU generation, live stock decrementing, and revenue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Military-Grade Security &amp; Sovereign Zero-Data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🛡️ Cryptographic Primitives &amp; RAM Keys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 hardcoded secrets and memory-isolated key derivation:</a:t>
            </a:r>
            <a:br/>
            <a:br/>
            <a:r>
              <a:t>• AES-256-GCM Authenticated Encryption at rest for customer receipts, visitor registries, and KV data.</a:t>
            </a:r>
            <a:br/>
            <a:r>
              <a:t>• Scrypt Master Key Derivation (N=32768, r=8, p=1) prioritizing dynamic environment passphrases.</a:t>
            </a:r>
            <a:br/>
            <a:r>
              <a:t>• Tamper-Evident SHA-256 Audit Trails: Chained hash logs where modifying historical entries breaks mathematical verification.</a:t>
            </a:r>
            <a:br/>
            <a:r>
              <a:t>• Dynamic Tarpit Lockouts: Exponential rate-limiting defeating brute-force credential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C4DFF"/>
                </a:solidFill>
              </a:defRPr>
            </a:pPr>
            <a:r>
              <a:t>📦 Self-Replicating Sovereign Nodes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Portable node replication and total Git database isolation:</a:t>
            </a:r>
            <a:br/>
            <a:br/>
            <a:r>
              <a:t>• Git Database Isolation: All runtime databases (*.db, *.db-wal) are permanently excluded from git sync, guaranteeing zero sensitive customer data exposure on public repositories.</a:t>
            </a:r>
            <a:br/>
            <a:r>
              <a:t>• Autonomous Node Generator (node_generator.py): Export standalone portable business nodes (e.g. Khumalo Millers, Matopos Dairy) with 1 click.</a:t>
            </a:r>
            <a:br/>
            <a:r>
              <a:t>• Zero-Config Bootstrapper (start.py): Auto-installs virtual environments, resolves missing dependencies, and spins up local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Exponential Trajectory: The Next Decade of Local Compute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E5FF"/>
                </a:solidFill>
              </a:defRPr>
            </a:pPr>
            <a:r>
              <a:t>📶 1. Wi-Fi 8 &amp; mmWave Mesh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Next-gen local wireless will exceed 100 Gbps with sub-millisecond deterministic latency.</a:t>
            </a:r>
            <a:br/>
            <a:br/>
            <a:r>
              <a:t>• Entire neighborhood economies will sync databases across peer meshes without relying on cellular towers or ISP uplinks.</a:t>
            </a:r>
            <a:br/>
            <a:r>
              <a:t>• High-density store-to-store data sharing with zero bandwidth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7C4DFF"/>
                </a:solidFill>
              </a:defRPr>
            </a:pPr>
            <a:r>
              <a:t>🧠 2. On-Device NPUs &amp; Edge AI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Neural Processing Units (NPUs) on consumer chips will run quantized LLMs locally at 100+ tokens/sec.</a:t>
            </a:r>
            <a:br/>
            <a:br/>
            <a:r>
              <a:t>• MADN nodes will execute autonomous inventory forecasting, predictive crop yield analysis, and automated market negotiation right on the farm or cash register.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🌍 3. Sovereign Resilient Economies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Decentralization shifts from a theoretical ideal to an undeniable economic advantage.</a:t>
            </a:r>
            <a:br/>
            <a:br/>
            <a:r>
              <a:t>• Communities become immune to hyperinflation, platform de-platforming, and subsea cable cuts.</a:t>
            </a:r>
            <a:br/>
            <a:r>
              <a:t>• Local trade continues seamlessly, privately, and reliably forever.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MODULAR ADAPTIVE DATA NODE (MADN) • DYNAMIC VALUE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Conclusion: The Future of Value Systems is Local and Sovereign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97135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E5FF"/>
                </a:solidFill>
              </a:defRPr>
            </a:pPr>
            <a:r>
              <a:t>🎯 Summary &amp; Technical Milestones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✔ Unlocking Idle Edge Assets: </a:t>
            </a:r>
            <a:r>
              <a:rPr b="0">
                <a:solidFill>
                  <a:srgbClr val="94A3B8"/>
                </a:solidFill>
              </a:rPr>
              <a:t>Transforming commodity consumer devices into zero-cost, high-performance financial infrastructure.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✔ 100% Automated Test Matrix: </a:t>
            </a:r>
            <a:r>
              <a:rPr b="0">
                <a:solidFill>
                  <a:srgbClr val="94A3B8"/>
                </a:solidFill>
              </a:rPr>
              <a:t>49 comprehensive unit and integration tests passing with 100% reliability across all security and pricing tiers.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✔ Multi-Currency &amp; Zero-Coin Vouchers: </a:t>
            </a:r>
            <a:r>
              <a:rPr b="0">
                <a:solidFill>
                  <a:srgbClr val="94A3B8"/>
                </a:solidFill>
              </a:rPr>
              <a:t>Native ISO standard ZiG/ZWG, USD, and ZAR settlement with cryptographic offline change vouchers.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✔ One-Command Bootstrap: </a:t>
            </a:r>
            <a:r>
              <a:rPr b="0">
                <a:solidFill>
                  <a:srgbClr val="94A3B8"/>
                </a:solidFill>
              </a:rPr>
              <a:t>Execute 'python start.py' on any laptop, Raspberry Pi, or server to launch the full autonomous cluster.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✔ Next Development Milestone (Cycle 5): </a:t>
            </a:r>
            <a:r>
              <a:rPr b="0">
                <a:solidFill>
                  <a:srgbClr val="94A3B8"/>
                </a:solidFill>
              </a:rPr>
              <a:t>Bidirectional P2P vector delta mesh sync and captive Wi-Fi portal access vending on receipts.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MADN — Sovereign Data • Resilient Trade • Continuous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