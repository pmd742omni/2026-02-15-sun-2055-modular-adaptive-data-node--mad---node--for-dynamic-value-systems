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63040" y="1463040"/>
            <a:ext cx="92656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E5FF"/>
                </a:solidFill>
              </a:defRPr>
            </a:pPr>
            <a:r>
              <a:t>SOVEREIGN EDGE COMPUTING &amp; DECENTRALIZED VALUATION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</a:defRPr>
            </a:pPr>
            <a:r>
              <a:t>Modular Adaptive Data Node</a:t>
            </a:r>
            <a:br/>
            <a:r>
              <a:t>for Dynamic Value Systems</a:t>
            </a:r>
          </a:p>
          <a:p>
            <a:pPr>
              <a:spcAft>
                <a:spcPts val="2800"/>
              </a:spcAft>
              <a:defRPr sz="1600">
                <a:solidFill>
                  <a:srgbClr val="94A3B8"/>
                </a:solidFill>
              </a:defRPr>
            </a:pPr>
            <a:r>
              <a:t>Unlocking Exponential Value in Idle Everyday Compute, Multi-Gigabit Local Mesh, and Continuous Algorithmic Pricing</a:t>
            </a:r>
          </a:p>
          <a:p>
            <a:pPr>
              <a:defRPr sz="1300" b="1">
                <a:solidFill>
                  <a:srgbClr val="10B981"/>
                </a:solidFill>
              </a:defRPr>
            </a:pPr>
            <a:r>
              <a:t>🚀 Zero Cloud Subscriptions • 🔒 AES-256-GCM Vault • ⚡ Wi-Fi 7 Sub-Millisecond Mesh • 🌾 Precision Agri &amp; Touch 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Hardware &amp; Bandwidth Revolution: 1999 vs. Today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EF4444"/>
                </a:solidFill>
              </a:defRPr>
            </a:pPr>
            <a:r>
              <a:t>⏳ 1999: The Centralized Cloud Era Begins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RAM &amp; Memory: </a:t>
            </a:r>
            <a:r>
              <a:rPr b="0">
                <a:solidFill>
                  <a:srgbClr val="94A3B8"/>
                </a:solidFill>
              </a:rPr>
              <a:t>64 MB – 128 MB SDRAM ($150+). Barely enough to keep a browser tab in memory.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Bandwidth: </a:t>
            </a:r>
            <a:r>
              <a:rPr b="0">
                <a:solidFill>
                  <a:srgbClr val="94A3B8"/>
                </a:solidFill>
              </a:rPr>
              <a:t>56 kbps Dial-up or 10 Mbps Wired Ethernet. Severely congested copper lines.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Latency: </a:t>
            </a:r>
            <a:r>
              <a:rPr b="0">
                <a:solidFill>
                  <a:srgbClr val="94A3B8"/>
                </a:solidFill>
              </a:rPr>
              <a:t>50 ms – 150 ms roundtrips. High packet loss and expensive long-distance routes.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Storage Throughput: </a:t>
            </a:r>
            <a:r>
              <a:rPr b="0">
                <a:solidFill>
                  <a:srgbClr val="94A3B8"/>
                </a:solidFill>
              </a:rPr>
              <a:t>10 GB Spinning IDE HDD @ 5–10 MB/s. Fragile moving magnetic heads.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Architectural Result: </a:t>
            </a:r>
            <a:r>
              <a:rPr b="0">
                <a:solidFill>
                  <a:srgbClr val="94A3B8"/>
                </a:solidFill>
              </a:rPr>
              <a:t>Centralized server farms were mandatory because client devices were too weak to process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E5FF"/>
                </a:solidFill>
              </a:defRPr>
            </a:pPr>
            <a:r>
              <a:t>⚡ Today: Ubiquitous Edge Supercomputing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RAM &amp; Memory: </a:t>
            </a:r>
            <a:r>
              <a:rPr b="0">
                <a:solidFill>
                  <a:srgbClr val="94A3B8"/>
                </a:solidFill>
              </a:rPr>
              <a:t>16 GB – 32 GB LPDDR5X (500x capacity, 100x speed) in pocket phones and mini-PCs.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Bandwidth: </a:t>
            </a:r>
            <a:r>
              <a:rPr b="0">
                <a:solidFill>
                  <a:srgbClr val="94A3B8"/>
                </a:solidFill>
              </a:rPr>
              <a:t>Wi-Fi 7 (802.11be) delivering 5,000 – 30,000 Mbps over the air. Zero cables needed.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Latency: </a:t>
            </a:r>
            <a:r>
              <a:rPr b="0">
                <a:solidFill>
                  <a:srgbClr val="94A3B8"/>
                </a:solidFill>
              </a:rPr>
              <a:t>Sub-2 ms local mesh roundtrips. 50x lower latency than remote cloud servers.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Storage Throughput: </a:t>
            </a:r>
            <a:r>
              <a:rPr b="0">
                <a:solidFill>
                  <a:srgbClr val="94A3B8"/>
                </a:solidFill>
              </a:rPr>
              <a:t>1 TB – 2 TB NVMe PCIe 4.0 SSD @ 7,000 MB/s (1,000x I/O speed increase).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The Opportunity: </a:t>
            </a:r>
            <a:r>
              <a:rPr b="0">
                <a:solidFill>
                  <a:srgbClr val="94A3B8"/>
                </a:solidFill>
              </a:rPr>
              <a:t>Consumer edge devices now outgun 1999 datacenters by orders of magnitude!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Idle Infrastructure Paradox &amp; The Cloud Trap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F59E0B"/>
                </a:solidFill>
              </a:defRPr>
            </a:pPr>
            <a:r>
              <a:t>💤 85%+ Idle Capacity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Billions of smartphones, Raspberry Pis, POS terminals, and laptops run at &lt; 15% CPU utilization.</a:t>
            </a:r>
            <a:br/>
            <a:br/>
            <a:r>
              <a:t>• Gigabytes of high-speed RAM sit dormant.</a:t>
            </a:r>
            <a:br/>
            <a:r>
              <a:t>• Multi-core ARM/x86 processors sleep.</a:t>
            </a:r>
            <a:br/>
            <a:r>
              <a:t>• Terabytes of ultra-fast NVMe storage remain empty.</a:t>
            </a:r>
            <a:br/>
            <a:br/>
            <a:r>
              <a:t>We own supercomputers, yet we pay third parties to compute for 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EF4444"/>
                </a:solidFill>
              </a:defRPr>
            </a:pPr>
            <a:r>
              <a:t>💸 The Cloud Tax &amp; Fragility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Centralized cloud architectures create economic rent and single points of failure:</a:t>
            </a:r>
            <a:br/>
            <a:br/>
            <a:r>
              <a:t>• Recurring monthly SaaS subscriptions.</a:t>
            </a:r>
            <a:br/>
            <a:r>
              <a:t>• High data egress &amp; API gateway tolls.</a:t>
            </a:r>
            <a:br/>
            <a:r>
              <a:t>• Single fiber cuts or outages paralyze local shops and farm markets.</a:t>
            </a:r>
            <a:br/>
            <a:r>
              <a:t>• Surveillance and loss of data sovereignty.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0E5FF"/>
                </a:solidFill>
              </a:defRPr>
            </a:pPr>
            <a:r>
              <a:t>💡 The MADN Solution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Turn existing idle hardware into autonomous, peer-to-peer data and financial nodes:</a:t>
            </a:r>
            <a:br/>
            <a:br/>
            <a:r>
              <a:t>• Zero cloud subscriptions or external hosting.</a:t>
            </a:r>
            <a:br/>
            <a:r>
              <a:t>• 100% offline air-gapped continuity.</a:t>
            </a:r>
            <a:br/>
            <a:r>
              <a:t>• Free, instant local network transfers.</a:t>
            </a:r>
            <a:br/>
            <a:r>
              <a:t>• Autonomous local value generation for farmers, merchants, and communities.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Tri-Node Sovereign Architecture: Modular &amp; Composable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E5FF"/>
                </a:solidFill>
              </a:defRPr>
            </a:pPr>
            <a:r>
              <a:t>🖥️ 1. Operator Node (:8000)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Zero-installation VisionPro Dark Glass Web Client executing in any modern browser.</a:t>
            </a:r>
            <a:br/>
            <a:br/>
            <a:r>
              <a:t>• Dynamic real-time touch POS register.</a:t>
            </a:r>
            <a:br/>
            <a:r>
              <a:t>• Organic concentric glowing avatar profiles with client-side image compression.</a:t>
            </a:r>
            <a:br/>
            <a:r>
              <a:t>• Condition-gated progressive disclosure (Store Setup -&gt; POS -&gt; Marketplace).</a:t>
            </a:r>
            <a:br/>
            <a:r>
              <a:t>• Digital Receipt Vault &amp; QR scanner.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7C4DFF"/>
                </a:solidFill>
              </a:defRPr>
            </a:pPr>
            <a:r>
              <a:t>📡 2. Data Node (:8002)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Standalone storage, multicast peer discovery, and global currency collector.</a:t>
            </a:r>
            <a:br/>
            <a:br/>
            <a:r>
              <a:t>• UDP Multicast Heartbeats (224.0.0.251:8001) for zero-config local mesh discovery.</a:t>
            </a:r>
            <a:br/>
            <a:r>
              <a:t>• 170+ ISO Fiat &amp; 50+ Crypto Currency Catalog with air-gapped fallback.</a:t>
            </a:r>
            <a:br/>
            <a:r>
              <a:t>• Encrypted Key-Value store with AES-256-GCM data-at-rest protection.</a:t>
            </a:r>
            <a:br/>
            <a:r>
              <a:t>• Remote lifecycle &amp; maintenance controls.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🔒 3. Vault Node (:8000)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Cryptographic coordinator &amp; extensible multi-currency tri-ledger database.</a:t>
            </a:r>
            <a:br/>
            <a:br/>
            <a:r>
              <a:t>• Scrypt KDF + TOTP Step-Up MFA authentication.</a:t>
            </a:r>
            <a:br/>
            <a:r>
              <a:t>• SQLite WAL concurrency with BEGIN IMMEDIATE transaction isolation.</a:t>
            </a:r>
            <a:br/>
            <a:r>
              <a:t>• Multi-Currency settlement: USD, ZAR, Zimbabwe Gold (ZiG / ZWG).</a:t>
            </a:r>
            <a:br/>
            <a:r>
              <a:t>• Self-Replicating Node Generator (node_generator.py) for new edge stores.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Dynamic Value Systems: Continuous Algorithmic Pricing &amp; Multi-Tender Settlement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0E5FF"/>
                </a:solidFill>
              </a:defRPr>
            </a:pPr>
            <a:r>
              <a:t>📉 Continuous Exponential Price Decay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Perishable goods (fresh produce, milk, baked goods) automatically discount in real time based on shelf life while strictly protecting cost floors:</a:t>
            </a:r>
            <a:br/>
            <a:br/>
            <a:r>
              <a:t>P(t) = P_cost + (P_base - P_cost) * e^(-λ t)</a:t>
            </a:r>
            <a:br/>
            <a:r>
              <a:t>where λ = ln(2) / T_half_life</a:t>
            </a:r>
            <a:br/>
            <a:br/>
            <a:r>
              <a:t>• Eliminates food spoilage &amp; waste before expiration.</a:t>
            </a:r>
            <a:br/>
            <a:r>
              <a:t>• Maximizes inventory liquidation velocity.</a:t>
            </a:r>
            <a:br/>
            <a:r>
              <a:t>• Completely autonomous—no manual relabeling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59E0B"/>
                </a:solidFill>
              </a:defRPr>
            </a:pPr>
            <a:r>
              <a:t>💱 Tri-Currency Split Tender &amp; Offline Vouchers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Real-time mixed tender point-of-sale checkout:</a:t>
            </a:r>
            <a:br/>
            <a:br/>
            <a:r>
              <a:t>V_paid = T_USD + (T_ZAR / rate_ZAR) + (T_ZWG / rate_ZWG)</a:t>
            </a:r>
            <a:br/>
            <a:br/>
            <a:r>
              <a:t>• Solves Change Shortages: Mint cryptographic QR change vouchers when physical coins are unavailable.</a:t>
            </a:r>
            <a:br/>
            <a:r>
              <a:t>• Air-Gapped Verification: HMAC-SHA256 digital signatures prevent counterfeit vouchers and double-spends offline.</a:t>
            </a:r>
            <a:br/>
            <a:r>
              <a:t>• Instant Wallet Redemption: Customers can deposit voucher change into digital banking wallets with zero internet.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Precision Agriculture: Autonomous Farm-to-Fork Value Chains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E5FF"/>
                </a:solidFill>
              </a:defRPr>
            </a:pPr>
            <a:r>
              <a:t>🌱 Step 1: Fields &amp; Plots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Geospatial soil mapping, irrigation tracking, and real-time Bulawayo climate sensor integration. Track hectare yields directly on edge devices.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C4DFF"/>
                </a:solidFill>
              </a:defRPr>
            </a:pPr>
            <a:r>
              <a:t>🚜 Step 2: Crop Plantings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Structured lifecycle plans from germination to harvest. Fertilizer, labor, and fuel input ledgering linked to field plots.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59E0B"/>
                </a:solidFill>
              </a:defRPr>
            </a:pPr>
            <a:r>
              <a:t>📊 Step 3: Cost &amp; Price Calc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Automated unit cost calculation factoring seeds, labor, water, and margin targets. Calculates recommended base selling price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0B981"/>
                </a:solidFill>
              </a:defRPr>
            </a:pPr>
            <a:r>
              <a:t>🏪 Step 4: Harvest POS Sync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Harvested crops instantly populate store inventory catalogs. Automated dynamic SKU generation, live stock decrementing, and revenue routing.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Military-Grade Security &amp; Sovereign Zero-Data Exposure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</a:defRPr>
            </a:pPr>
            <a:r>
              <a:t>🛡️ Cryptographic Primitives &amp; RAM Keys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Zero hardcoded secrets and memory-isolated key derivation:</a:t>
            </a:r>
            <a:br/>
            <a:br/>
            <a:r>
              <a:t>• AES-256-GCM Authenticated Encryption at rest for customer receipts, visitor registries, and KV data.</a:t>
            </a:r>
            <a:br/>
            <a:r>
              <a:t>• Scrypt Master Key Derivation (N=32768, r=8, p=1) prioritizing dynamic environment passphrases.</a:t>
            </a:r>
            <a:br/>
            <a:r>
              <a:t>• Tamper-Evident SHA-256 Audit Trails: Chained hash logs where modifying historical entries breaks mathematical verification.</a:t>
            </a:r>
            <a:br/>
            <a:r>
              <a:t>• Dynamic Tarpit Lockouts: Exponential rate-limiting defeating brute-force credential attacks.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C4DFF"/>
                </a:solidFill>
              </a:defRPr>
            </a:pPr>
            <a:r>
              <a:t>📦 Self-Replicating Sovereign Nodes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Portable node replication and total Git database isolation:</a:t>
            </a:r>
            <a:br/>
            <a:br/>
            <a:r>
              <a:t>• Git Database Isolation: All runtime databases (*.db, *.db-wal) are permanently excluded from git sync, guaranteeing zero sensitive customer data exposure on public repositories.</a:t>
            </a:r>
            <a:br/>
            <a:r>
              <a:t>• Autonomous Node Generator (node_generator.py): Export standalone portable business nodes (e.g. Khumalo Millers, Matopos Dairy) with 1 click.</a:t>
            </a:r>
            <a:br/>
            <a:r>
              <a:t>• Zero-Config Bootstrapper (start.py): Auto-installs virtual environments, resolves missing dependencies, and spins up local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Exponential Trajectory: The Next Decade of Local Compute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0E5FF"/>
                </a:solidFill>
              </a:defRPr>
            </a:pPr>
            <a:r>
              <a:t>📶 1. Wi-Fi 8 &amp; mmWave Mesh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Next-gen local wireless will exceed 100 Gbps with sub-millisecond deterministic latency.</a:t>
            </a:r>
            <a:br/>
            <a:br/>
            <a:r>
              <a:t>• Entire neighborhood economies will sync databases across peer meshes without relying on cellular towers or ISP uplinks.</a:t>
            </a:r>
            <a:br/>
            <a:r>
              <a:t>• High-density store-to-store data sharing with zero bandwidth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C4DFF"/>
                </a:solidFill>
              </a:defRPr>
            </a:pPr>
            <a:r>
              <a:t>🧠 2. On-Device NPUs &amp; Edge AI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Neural Processing Units (NPUs) on consumer chips will run quantized LLMs locally at 100+ tokens/sec.</a:t>
            </a:r>
            <a:br/>
            <a:br/>
            <a:r>
              <a:t>• MADN nodes will execute autonomous inventory forecasting, predictive crop yield analysis, and automated market negotiation right on the farm or cash register.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10B981"/>
                </a:solidFill>
              </a:defRPr>
            </a:pPr>
            <a:r>
              <a:t>🌍 3. Sovereign Resilient Economies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Decentralization shifts from a theoretical ideal to an undeniable economic advantage.</a:t>
            </a:r>
            <a:br/>
            <a:br/>
            <a:r>
              <a:t>• Communities become immune to hyperinflation, platform de-platforming, and subsea cable cuts.</a:t>
            </a:r>
            <a:br/>
            <a:r>
              <a:t>• Local trade continues seamlessly, privately, and reliably forever.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DYNAMIC VALUE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Conclusion: The Future of Value Systems is Local and Sovereign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9997135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92656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E5FF"/>
                </a:solidFill>
              </a:defRPr>
            </a:pPr>
            <a:r>
              <a:t>🎯 Summary &amp; Technical Milestones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Unlocking Idle Edge Assets: </a:t>
            </a:r>
            <a:r>
              <a:rPr b="0">
                <a:solidFill>
                  <a:srgbClr val="94A3B8"/>
                </a:solidFill>
              </a:rPr>
              <a:t>Transforming commodity consumer devices into zero-cost, high-performance financial infrastructure.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100% Automated Test Matrix: </a:t>
            </a:r>
            <a:r>
              <a:rPr b="0">
                <a:solidFill>
                  <a:srgbClr val="94A3B8"/>
                </a:solidFill>
              </a:rPr>
              <a:t>49 comprehensive unit and integration tests passing with 100% reliability across all security and pricing tiers.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Multi-Currency &amp; Zero-Coin Vouchers: </a:t>
            </a:r>
            <a:r>
              <a:rPr b="0">
                <a:solidFill>
                  <a:srgbClr val="94A3B8"/>
                </a:solidFill>
              </a:rPr>
              <a:t>Native ISO standard ZiG/ZWG, USD, and ZAR settlement with cryptographic offline change vouchers.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One-Command Bootstrap: </a:t>
            </a:r>
            <a:r>
              <a:rPr b="0">
                <a:solidFill>
                  <a:srgbClr val="94A3B8"/>
                </a:solidFill>
              </a:rPr>
              <a:t>Execute 'python start.py' on any laptop, Raspberry Pi, or server to launch the full autonomous cluster.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Next Development Milestone (Cycle 5): </a:t>
            </a:r>
            <a:r>
              <a:rPr b="0">
                <a:solidFill>
                  <a:srgbClr val="94A3B8"/>
                </a:solidFill>
              </a:rPr>
              <a:t>Bidirectional P2P vector delta mesh sync and captive Wi-Fi portal access vending on receipts.</a:t>
            </a:r>
          </a:p>
          <a:p>
            <a:pPr>
              <a:defRPr sz="1400" b="1">
                <a:solidFill>
                  <a:srgbClr val="F59E0B"/>
                </a:solidFill>
              </a:defRPr>
            </a:pPr>
            <a:r>
              <a:t>MADN — Sovereign Data • Resilient Trade • Continuous Value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