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97280" y="1097280"/>
            <a:ext cx="9997135" cy="46634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463040" y="1371600"/>
            <a:ext cx="926561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0E5FF"/>
                </a:solidFill>
              </a:defRPr>
            </a:pPr>
            <a:r>
              <a:t>LOCAL CONNECTIVITY &amp; OPERATOR DEVELOPMENT FRAMEWORK</a:t>
            </a:r>
          </a:p>
          <a:p>
            <a:pPr>
              <a:spcAft>
                <a:spcPts val="1600"/>
              </a:spcAft>
              <a:defRPr sz="3600" b="1">
                <a:solidFill>
                  <a:srgbClr val="FFFFFF"/>
                </a:solidFill>
              </a:defRPr>
            </a:pPr>
            <a:r>
              <a:t>Modular Adaptive Data Node</a:t>
            </a:r>
            <a:br/>
            <a:r>
              <a:t>for Dynamic Value Systems</a:t>
            </a:r>
          </a:p>
          <a:p>
            <a:pPr>
              <a:spcAft>
                <a:spcPts val="2800"/>
              </a:spcAft>
              <a:defRPr sz="1550">
                <a:solidFill>
                  <a:srgbClr val="94A3B8"/>
                </a:solidFill>
              </a:defRPr>
            </a:pPr>
            <a:r>
              <a:t>Harnessing High-Speed Local Networking and Idle Edge Hardware to Provide a Composable Framework for Operators to Build Sovereign Economic Systems</a:t>
            </a:r>
          </a:p>
          <a:p>
            <a:pPr>
              <a:defRPr sz="1250" b="1">
                <a:solidFill>
                  <a:srgbClr val="10B981"/>
                </a:solidFill>
              </a:defRPr>
            </a:pPr>
            <a:r>
              <a:t>⚡ Local Wireless Mesh • 🛠️ Composable Operator Framework • 🔒 Zero-Cloud Sovereign Vault • 🌾 Precision Agri &amp; Touch POS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MODULAR ADAPTIVE DATA NODE (MADN) • OPERATOR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Hardware &amp; Bandwidth Revolution: Why Local Compute Wins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EF4444"/>
                </a:solidFill>
              </a:defRPr>
            </a:pPr>
            <a:r>
              <a:t>⏳ 1999: Why Clouds Were Mandatory</a:t>
            </a:r>
          </a:p>
          <a:p>
            <a:pPr>
              <a:spcAft>
                <a:spcPts val="800"/>
              </a:spcAft>
              <a:defRPr b="1" sz="1200">
                <a:solidFill>
                  <a:srgbClr val="FFFFFF"/>
                </a:solidFill>
              </a:defRPr>
            </a:pPr>
            <a:r>
              <a:t>• RAM &amp; Memory: </a:t>
            </a:r>
            <a:r>
              <a:rPr b="0">
                <a:solidFill>
                  <a:srgbClr val="94A3B8"/>
                </a:solidFill>
              </a:rPr>
              <a:t>64 MB – 128 MB SDRAM ($150+). Barely enough to keep a single application in memory.</a:t>
            </a:r>
          </a:p>
          <a:p>
            <a:pPr>
              <a:spcAft>
                <a:spcPts val="800"/>
              </a:spcAft>
              <a:defRPr b="1" sz="1200">
                <a:solidFill>
                  <a:srgbClr val="FFFFFF"/>
                </a:solidFill>
              </a:defRPr>
            </a:pPr>
            <a:r>
              <a:t>• Network Bandwidth: </a:t>
            </a:r>
            <a:r>
              <a:rPr b="0">
                <a:solidFill>
                  <a:srgbClr val="94A3B8"/>
                </a:solidFill>
              </a:rPr>
              <a:t>56 kbps Dial-up or 10 Mbps Wired Ethernet. Copper lines with high packet congestion.</a:t>
            </a:r>
          </a:p>
          <a:p>
            <a:pPr>
              <a:spcAft>
                <a:spcPts val="800"/>
              </a:spcAft>
              <a:defRPr b="1" sz="1200">
                <a:solidFill>
                  <a:srgbClr val="FFFFFF"/>
                </a:solidFill>
              </a:defRPr>
            </a:pPr>
            <a:r>
              <a:t>• Network Latency: </a:t>
            </a:r>
            <a:r>
              <a:rPr b="0">
                <a:solidFill>
                  <a:srgbClr val="94A3B8"/>
                </a:solidFill>
              </a:rPr>
              <a:t>50 ms – 150 ms roundtrips over distant long-haul telecom links.</a:t>
            </a:r>
          </a:p>
          <a:p>
            <a:pPr>
              <a:spcAft>
                <a:spcPts val="800"/>
              </a:spcAft>
              <a:defRPr b="1" sz="1200">
                <a:solidFill>
                  <a:srgbClr val="FFFFFF"/>
                </a:solidFill>
              </a:defRPr>
            </a:pPr>
            <a:r>
              <a:t>• Storage Throughput: </a:t>
            </a:r>
            <a:r>
              <a:rPr b="0">
                <a:solidFill>
                  <a:srgbClr val="94A3B8"/>
                </a:solidFill>
              </a:rPr>
              <a:t>10 GB Spinning IDE HDD @ 5–10 MB/s. Slow magnetic mechanical heads.</a:t>
            </a:r>
          </a:p>
          <a:p>
            <a:pPr>
              <a:spcAft>
                <a:spcPts val="800"/>
              </a:spcAft>
              <a:defRPr b="1" sz="1200">
                <a:solidFill>
                  <a:srgbClr val="FFFFFF"/>
                </a:solidFill>
              </a:defRPr>
            </a:pPr>
            <a:r>
              <a:t>• The Legacy Result: </a:t>
            </a:r>
            <a:r>
              <a:rPr b="0">
                <a:solidFill>
                  <a:srgbClr val="94A3B8"/>
                </a:solidFill>
              </a:rPr>
              <a:t>Centralized server farms were necessary because client devices were too weak to run systems.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64592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00E5FF"/>
                </a:solidFill>
              </a:defRPr>
            </a:pPr>
            <a:r>
              <a:t>⚡ Today: Local Network Supercomputing</a:t>
            </a:r>
          </a:p>
          <a:p>
            <a:pPr>
              <a:spcAft>
                <a:spcPts val="800"/>
              </a:spcAft>
              <a:defRPr b="1" sz="1200">
                <a:solidFill>
                  <a:srgbClr val="FFFFFF"/>
                </a:solidFill>
              </a:defRPr>
            </a:pPr>
            <a:r>
              <a:t>• RAM &amp; Memory: </a:t>
            </a:r>
            <a:r>
              <a:rPr b="0">
                <a:solidFill>
                  <a:srgbClr val="94A3B8"/>
                </a:solidFill>
              </a:rPr>
              <a:t>16 GB – 32 GB LPDDR5X (500x capacity, 100x speed) in consumer laptops and edge nodes.</a:t>
            </a:r>
          </a:p>
          <a:p>
            <a:pPr>
              <a:spcAft>
                <a:spcPts val="800"/>
              </a:spcAft>
              <a:defRPr b="1" sz="1200">
                <a:solidFill>
                  <a:srgbClr val="FFFFFF"/>
                </a:solidFill>
              </a:defRPr>
            </a:pPr>
            <a:r>
              <a:t>• Local Bandwidth: </a:t>
            </a:r>
            <a:r>
              <a:rPr b="0">
                <a:solidFill>
                  <a:srgbClr val="94A3B8"/>
                </a:solidFill>
              </a:rPr>
              <a:t>Wi-Fi 7 (802.11be) delivering 5,000 – 30,000 Mbps over local airwaves without cables.</a:t>
            </a:r>
          </a:p>
          <a:p>
            <a:pPr>
              <a:spcAft>
                <a:spcPts val="800"/>
              </a:spcAft>
              <a:defRPr b="1" sz="1200">
                <a:solidFill>
                  <a:srgbClr val="FFFFFF"/>
                </a:solidFill>
              </a:defRPr>
            </a:pPr>
            <a:r>
              <a:t>• Local Latency: </a:t>
            </a:r>
            <a:r>
              <a:rPr b="0">
                <a:solidFill>
                  <a:srgbClr val="94A3B8"/>
                </a:solidFill>
              </a:rPr>
              <a:t>Sub-2 ms local wireless mesh roundtrips. 50x faster than routing to cloud servers.</a:t>
            </a:r>
          </a:p>
          <a:p>
            <a:pPr>
              <a:spcAft>
                <a:spcPts val="800"/>
              </a:spcAft>
              <a:defRPr b="1" sz="1200">
                <a:solidFill>
                  <a:srgbClr val="FFFFFF"/>
                </a:solidFill>
              </a:defRPr>
            </a:pPr>
            <a:r>
              <a:t>• Storage Throughput: </a:t>
            </a:r>
            <a:r>
              <a:rPr b="0">
                <a:solidFill>
                  <a:srgbClr val="94A3B8"/>
                </a:solidFill>
              </a:rPr>
              <a:t>1 TB – 2 TB NVMe PCIe 4.0 SSD @ 7,000 MB/s (1,000x I/O speed increase).</a:t>
            </a:r>
          </a:p>
          <a:p>
            <a:pPr>
              <a:spcAft>
                <a:spcPts val="800"/>
              </a:spcAft>
              <a:defRPr b="1" sz="1200">
                <a:solidFill>
                  <a:srgbClr val="FFFFFF"/>
                </a:solidFill>
              </a:defRPr>
            </a:pPr>
            <a:r>
              <a:t>• Operator Opportunity: </a:t>
            </a:r>
            <a:r>
              <a:rPr b="0">
                <a:solidFill>
                  <a:srgbClr val="94A3B8"/>
                </a:solidFill>
              </a:rPr>
              <a:t>Operators can now build full-fledged, high-throughput autonomous systems on local hardware!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MODULAR ADAPTIVE DATA NODE (MADN) • OPERATOR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Problem Statement: Centralized Cloud Vulnerabilities &amp; Local Friction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2286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50" b="1">
                <a:solidFill>
                  <a:srgbClr val="EF4444"/>
                </a:solidFill>
              </a:defRPr>
            </a:pPr>
            <a:r>
              <a:t>🌐 1. WAN &amp; Internet Dependency Trap</a:t>
            </a:r>
          </a:p>
          <a:p>
            <a:pPr>
              <a:spcAft>
                <a:spcPts val="400"/>
              </a:spcAft>
              <a:defRPr b="1" sz="1050">
                <a:solidFill>
                  <a:srgbClr val="FFFFFF"/>
                </a:solidFill>
              </a:defRPr>
            </a:pPr>
            <a:r>
              <a:t>• Single Points of Failure: </a:t>
            </a:r>
            <a:r>
              <a:rPr b="0">
                <a:solidFill>
                  <a:srgbClr val="94A3B8"/>
                </a:solidFill>
              </a:rPr>
              <a:t>Reliance on distant cloud servers causes total point-of-sale and transaction collapse during fiber cuts, ISP blackouts, or local power grid instability.</a:t>
            </a:r>
          </a:p>
          <a:p>
            <a:pPr>
              <a:spcAft>
                <a:spcPts val="400"/>
              </a:spcAft>
              <a:defRPr b="1" sz="1050">
                <a:solidFill>
                  <a:srgbClr val="FFFFFF"/>
                </a:solidFill>
              </a:defRPr>
            </a:pPr>
            <a:r>
              <a:t>• Latency &amp; Cost Inefficiency: </a:t>
            </a:r>
            <a:r>
              <a:rPr b="0">
                <a:solidFill>
                  <a:srgbClr val="94A3B8"/>
                </a:solidFill>
              </a:rPr>
              <a:t>Local micro-transactions travel thousands of kilometers across global backbones, incurring high egress tolls and network delays.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63040"/>
            <a:ext cx="5120640" cy="2286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60020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50" b="1">
                <a:solidFill>
                  <a:srgbClr val="F59E0B"/>
                </a:solidFill>
              </a:defRPr>
            </a:pPr>
            <a:r>
              <a:t>💱 2. Multi-Currency Friction &amp; Coin Scarcity</a:t>
            </a:r>
          </a:p>
          <a:p>
            <a:pPr>
              <a:spcAft>
                <a:spcPts val="400"/>
              </a:spcAft>
              <a:defRPr b="1" sz="1050">
                <a:solidFill>
                  <a:srgbClr val="FFFFFF"/>
                </a:solidFill>
              </a:defRPr>
            </a:pPr>
            <a:r>
              <a:t>• Small Change Crisis: </a:t>
            </a:r>
            <a:r>
              <a:rPr b="0">
                <a:solidFill>
                  <a:srgbClr val="94A3B8"/>
                </a:solidFill>
              </a:rPr>
              <a:t>In multi-currency regimes (USD, ZAR, Zimbabwe Gold ZiG), physical small-denomination coins are perpetually scarce, stalling retail commerce.</a:t>
            </a:r>
          </a:p>
          <a:p>
            <a:pPr>
              <a:spcAft>
                <a:spcPts val="400"/>
              </a:spcAft>
              <a:defRPr b="1" sz="1050">
                <a:solidFill>
                  <a:srgbClr val="FFFFFF"/>
                </a:solidFill>
              </a:defRPr>
            </a:pPr>
            <a:r>
              <a:t>• Forced Overpayments: </a:t>
            </a:r>
            <a:r>
              <a:rPr b="0">
                <a:solidFill>
                  <a:srgbClr val="94A3B8"/>
                </a:solidFill>
              </a:rPr>
              <a:t>Shoppers are forced into arbitrary unwanted purchases or loose change forfeit, eroding purchasing power and merchant trust.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120640" cy="2286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06908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50" b="1">
                <a:solidFill>
                  <a:srgbClr val="7C4DFF"/>
                </a:solidFill>
              </a:defRPr>
            </a:pPr>
            <a:r>
              <a:t>🌾 3. Static Pricing &amp; Perishable Food Spoilage</a:t>
            </a:r>
          </a:p>
          <a:p>
            <a:pPr>
              <a:spcAft>
                <a:spcPts val="400"/>
              </a:spcAft>
              <a:defRPr b="1" sz="1050">
                <a:solidFill>
                  <a:srgbClr val="FFFFFF"/>
                </a:solidFill>
              </a:defRPr>
            </a:pPr>
            <a:r>
              <a:t>• Inventory Depreciation: </a:t>
            </a:r>
            <a:r>
              <a:rPr b="0">
                <a:solidFill>
                  <a:srgbClr val="94A3B8"/>
                </a:solidFill>
              </a:rPr>
              <a:t>Fresh agricultural produce depreciates rapidly, but conventional static POS systems fail to adjust prices dynamically.</a:t>
            </a:r>
          </a:p>
          <a:p>
            <a:pPr>
              <a:spcAft>
                <a:spcPts val="400"/>
              </a:spcAft>
              <a:defRPr b="1" sz="1050">
                <a:solidFill>
                  <a:srgbClr val="FFFFFF"/>
                </a:solidFill>
              </a:defRPr>
            </a:pPr>
            <a:r>
              <a:t>• Economic Deadweight Loss: </a:t>
            </a:r>
            <a:r>
              <a:rPr b="0">
                <a:solidFill>
                  <a:srgbClr val="94A3B8"/>
                </a:solidFill>
              </a:rPr>
              <a:t>Lack of autonomous, shelf-life-aware algorithmic discounting results in massive spoilage, food wastage, and merchant revenue erosion.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3931920"/>
            <a:ext cx="5120640" cy="228600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406908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50" b="1">
                <a:solidFill>
                  <a:srgbClr val="00E5FF"/>
                </a:solidFill>
              </a:defRPr>
            </a:pPr>
            <a:r>
              <a:t>🔒 4. Cloud Surveillance &amp; Sovereign Data Loss</a:t>
            </a:r>
          </a:p>
          <a:p>
            <a:pPr>
              <a:spcAft>
                <a:spcPts val="400"/>
              </a:spcAft>
              <a:defRPr b="1" sz="1050">
                <a:solidFill>
                  <a:srgbClr val="FFFFFF"/>
                </a:solidFill>
              </a:defRPr>
            </a:pPr>
            <a:r>
              <a:t>• Vendor Lock-in &amp; Data Leakage: </a:t>
            </a:r>
            <a:r>
              <a:rPr b="0">
                <a:solidFill>
                  <a:srgbClr val="94A3B8"/>
                </a:solidFill>
              </a:rPr>
              <a:t>Small businesses and agricultural operators surrender sensitive financial logs and operational telemetry to foreign SaaS platforms.</a:t>
            </a:r>
          </a:p>
          <a:p>
            <a:pPr>
              <a:spcAft>
                <a:spcPts val="400"/>
              </a:spcAft>
              <a:defRPr b="1" sz="1050">
                <a:solidFill>
                  <a:srgbClr val="FFFFFF"/>
                </a:solidFill>
              </a:defRPr>
            </a:pPr>
            <a:r>
              <a:t>• Recurring SaaS Rent: </a:t>
            </a:r>
            <a:r>
              <a:rPr b="0">
                <a:solidFill>
                  <a:srgbClr val="94A3B8"/>
                </a:solidFill>
              </a:rPr>
              <a:t>Escalating monthly software subscriptions drain working capital from developing edge economies while offering zero offline operational resilience.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MODULAR ADAPTIVE DATA NODE (MADN) • OPERATOR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Research Objectives: Building the Sovereign Operator Framework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105156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173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E5FF"/>
                </a:solidFill>
              </a:defRPr>
            </a:pPr>
            <a:r>
              <a:t>🎯 PRIMARY RESEARCH OBJECTIVE</a:t>
            </a:r>
          </a:p>
          <a:p>
            <a:pPr>
              <a:defRPr sz="1150">
                <a:solidFill>
                  <a:srgbClr val="FFFFFF"/>
                </a:solidFill>
              </a:defRPr>
            </a:pPr>
            <a:r>
              <a:t>To architect, develop, and empirically validate an offline-first Modular Adaptive Data Node (MADN) framework that leverages local network connectivity and idle edge hardware, empowering operators to deploy sovereign dynamic pricing, multi-tender settlement, and agro-industrial systems.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2514600" cy="3749039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697480"/>
            <a:ext cx="2240280" cy="3474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50" b="1">
                <a:solidFill>
                  <a:srgbClr val="00E5FF"/>
                </a:solidFill>
              </a:defRPr>
            </a:pPr>
            <a:r>
              <a:t>RO-1: Local Mesh &amp; Tri-Node Architecture</a:t>
            </a:r>
          </a:p>
          <a:p>
            <a:pPr>
              <a:spcAft>
                <a:spcPts val="600"/>
              </a:spcAft>
              <a:defRPr b="1" sz="1050">
                <a:solidFill>
                  <a:srgbClr val="FFFFFF"/>
                </a:solidFill>
              </a:defRPr>
            </a:pPr>
            <a:r>
              <a:t>• Zero-Cloud Decoupling: </a:t>
            </a:r>
            <a:r>
              <a:rPr b="0">
                <a:solidFill>
                  <a:srgbClr val="94A3B8"/>
                </a:solidFill>
              </a:rPr>
              <a:t>Engineer an autonomous tri-node separation (Operator, Data Node, Vault Node).</a:t>
            </a:r>
          </a:p>
          <a:p>
            <a:pPr>
              <a:spcAft>
                <a:spcPts val="600"/>
              </a:spcAft>
              <a:defRPr b="1" sz="1050">
                <a:solidFill>
                  <a:srgbClr val="FFFFFF"/>
                </a:solidFill>
              </a:defRPr>
            </a:pPr>
            <a:r>
              <a:t>• Multicast Discovery: </a:t>
            </a:r>
            <a:r>
              <a:rPr b="0">
                <a:solidFill>
                  <a:srgbClr val="94A3B8"/>
                </a:solidFill>
              </a:rPr>
              <a:t>Implement zero-config UDP multicast peer discovery (224.0.0.251:8001) over local Wi-Fi.</a:t>
            </a:r>
          </a:p>
          <a:p>
            <a:pPr>
              <a:spcAft>
                <a:spcPts val="600"/>
              </a:spcAft>
              <a:defRPr b="1" sz="1050">
                <a:solidFill>
                  <a:srgbClr val="FFFFFF"/>
                </a:solidFill>
              </a:defRPr>
            </a:pPr>
            <a:r>
              <a:t>• ACID Concurrency: </a:t>
            </a:r>
            <a:r>
              <a:rPr b="0">
                <a:solidFill>
                  <a:srgbClr val="94A3B8"/>
                </a:solidFill>
              </a:rPr>
              <a:t>Deliver sub-millisecond SQLite WAL transaction throughput under multi-terminal load.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2560320"/>
            <a:ext cx="2514600" cy="3749039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3592" y="2697480"/>
            <a:ext cx="2240280" cy="3474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50" b="1">
                <a:solidFill>
                  <a:srgbClr val="F59E0B"/>
                </a:solidFill>
              </a:defRPr>
            </a:pPr>
            <a:r>
              <a:t>RO-2: Dynamic Value &amp; Multi-Tender Engine</a:t>
            </a:r>
          </a:p>
          <a:p>
            <a:pPr>
              <a:spcAft>
                <a:spcPts val="600"/>
              </a:spcAft>
              <a:defRPr b="1" sz="1050">
                <a:solidFill>
                  <a:srgbClr val="FFFFFF"/>
                </a:solidFill>
              </a:defRPr>
            </a:pPr>
            <a:r>
              <a:t>• Perishable Decay: </a:t>
            </a:r>
            <a:r>
              <a:rPr b="0">
                <a:solidFill>
                  <a:srgbClr val="94A3B8"/>
                </a:solidFill>
              </a:rPr>
              <a:t>Formulate real-time continuous exponential price decay algorithms: P(t) = P_cost + (P_base - P_cost)e^(-λt).</a:t>
            </a:r>
          </a:p>
          <a:p>
            <a:pPr>
              <a:spcAft>
                <a:spcPts val="600"/>
              </a:spcAft>
              <a:defRPr b="1" sz="1050">
                <a:solidFill>
                  <a:srgbClr val="FFFFFF"/>
                </a:solidFill>
              </a:defRPr>
            </a:pPr>
            <a:r>
              <a:t>• Split-Tender Settlement: </a:t>
            </a:r>
            <a:r>
              <a:rPr b="0">
                <a:solidFill>
                  <a:srgbClr val="94A3B8"/>
                </a:solidFill>
              </a:rPr>
              <a:t>Compute multi-currency basket checkouts across USD, ZAR, and Zimbabwe Gold (ZiG).</a:t>
            </a:r>
          </a:p>
          <a:p>
            <a:pPr>
              <a:spcAft>
                <a:spcPts val="600"/>
              </a:spcAft>
              <a:defRPr b="1" sz="1050">
                <a:solidFill>
                  <a:srgbClr val="FFFFFF"/>
                </a:solidFill>
              </a:defRPr>
            </a:pPr>
            <a:r>
              <a:t>• Cryptographic Vouchers: </a:t>
            </a:r>
            <a:r>
              <a:rPr b="0">
                <a:solidFill>
                  <a:srgbClr val="94A3B8"/>
                </a:solidFill>
              </a:rPr>
              <a:t>Mint offline HMAC-SHA256 QR change vouchers to eliminate physical coin shortages.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2560320"/>
            <a:ext cx="2514600" cy="3749039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18504" y="2697480"/>
            <a:ext cx="2240280" cy="3474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50" b="1">
                <a:solidFill>
                  <a:srgbClr val="7C4DFF"/>
                </a:solidFill>
              </a:defRPr>
            </a:pPr>
            <a:r>
              <a:t>RO-3: Closed-Loop Precision Agri-Sync</a:t>
            </a:r>
          </a:p>
          <a:p>
            <a:pPr>
              <a:spcAft>
                <a:spcPts val="600"/>
              </a:spcAft>
              <a:defRPr b="1" sz="1050">
                <a:solidFill>
                  <a:srgbClr val="FFFFFF"/>
                </a:solidFill>
              </a:defRPr>
            </a:pPr>
            <a:r>
              <a:t>• Field &amp; Plot Provisioning: </a:t>
            </a:r>
            <a:r>
              <a:rPr b="0">
                <a:solidFill>
                  <a:srgbClr val="94A3B8"/>
                </a:solidFill>
              </a:rPr>
              <a:t>Define physical farm plots, acreage/hectares, soil types, and irrigation infrastructure.</a:t>
            </a:r>
          </a:p>
          <a:p>
            <a:pPr>
              <a:spcAft>
                <a:spcPts val="600"/>
              </a:spcAft>
              <a:defRPr b="1" sz="1050">
                <a:solidFill>
                  <a:srgbClr val="FFFFFF"/>
                </a:solidFill>
              </a:defRPr>
            </a:pPr>
            <a:r>
              <a:t>• Input Cost Ledgering: </a:t>
            </a:r>
            <a:r>
              <a:rPr b="0">
                <a:solidFill>
                  <a:srgbClr val="94A3B8"/>
                </a:solidFill>
              </a:rPr>
              <a:t>Track unit production costs across seeds, fertilizer, water, labor, and fuel.</a:t>
            </a:r>
          </a:p>
          <a:p>
            <a:pPr>
              <a:spcAft>
                <a:spcPts val="600"/>
              </a:spcAft>
              <a:defRPr b="1" sz="1050">
                <a:solidFill>
                  <a:srgbClr val="FFFFFF"/>
                </a:solidFill>
              </a:defRPr>
            </a:pPr>
            <a:r>
              <a:t>• Harvest POS Bridge: </a:t>
            </a:r>
            <a:r>
              <a:rPr b="0">
                <a:solidFill>
                  <a:srgbClr val="94A3B8"/>
                </a:solidFill>
              </a:rPr>
              <a:t>Automatically convert harvests into POS inventory with auto-generated SKUs and revenue routing.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06256" y="2560320"/>
            <a:ext cx="2514600" cy="3749039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43416" y="2697480"/>
            <a:ext cx="2240280" cy="3474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50" b="1">
                <a:solidFill>
                  <a:srgbClr val="10B981"/>
                </a:solidFill>
              </a:defRPr>
            </a:pPr>
            <a:r>
              <a:t>RO-4: Sovereign Security &amp; Node Portability</a:t>
            </a:r>
          </a:p>
          <a:p>
            <a:pPr>
              <a:spcAft>
                <a:spcPts val="600"/>
              </a:spcAft>
              <a:defRPr b="1" sz="1050">
                <a:solidFill>
                  <a:srgbClr val="FFFFFF"/>
                </a:solidFill>
              </a:defRPr>
            </a:pPr>
            <a:r>
              <a:t>• RAM Master Keys: </a:t>
            </a:r>
            <a:r>
              <a:rPr b="0">
                <a:solidFill>
                  <a:srgbClr val="94A3B8"/>
                </a:solidFill>
              </a:rPr>
              <a:t>Derive ephemeral AES-256-GCM encryption keys in memory via Scrypt KDF.</a:t>
            </a:r>
          </a:p>
          <a:p>
            <a:pPr>
              <a:spcAft>
                <a:spcPts val="600"/>
              </a:spcAft>
              <a:defRPr b="1" sz="1050">
                <a:solidFill>
                  <a:srgbClr val="FFFFFF"/>
                </a:solidFill>
              </a:defRPr>
            </a:pPr>
            <a:r>
              <a:t>• Tamper-Proof Audit: </a:t>
            </a:r>
            <a:r>
              <a:rPr b="0">
                <a:solidFill>
                  <a:srgbClr val="94A3B8"/>
                </a:solidFill>
              </a:rPr>
              <a:t>Enforce mathematically chained SHA-256 audit trails.</a:t>
            </a:r>
          </a:p>
          <a:p>
            <a:pPr>
              <a:spcAft>
                <a:spcPts val="600"/>
              </a:spcAft>
              <a:defRPr b="1" sz="1050">
                <a:solidFill>
                  <a:srgbClr val="FFFFFF"/>
                </a:solidFill>
              </a:defRPr>
            </a:pPr>
            <a:r>
              <a:t>• Self-Replicating Nodes: </a:t>
            </a:r>
            <a:r>
              <a:rPr b="0">
                <a:solidFill>
                  <a:srgbClr val="94A3B8"/>
                </a:solidFill>
              </a:rPr>
              <a:t>Implement one-click portable node generation (node_generator.py) for instant edge deployment.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MODULAR ADAPTIVE DATA NODE (MADN) • OPERATOR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Tri-Node Sovereign Architecture: Modular &amp; Composable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28416" cy="46634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29626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0E5FF"/>
                </a:solidFill>
              </a:defRPr>
            </a:pPr>
            <a:r>
              <a:t>🖥️ 1. Operator Node (:8000)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Zero-installation VisionPro Dark Glass Web Client executing in any modern browser.</a:t>
            </a:r>
            <a:br/>
            <a:br/>
            <a:r>
              <a:t>• Touch POS Register with instant catalog search and multi-currency checkout.</a:t>
            </a:r>
            <a:br/>
            <a:r>
              <a:t>• Organic concentric glowing avatar profiles with client-side image compression.</a:t>
            </a:r>
            <a:br/>
            <a:r>
              <a:t>• Precondition-gated progressive disclosure (Store Setup -&gt; POS -&gt; Marketplace).</a:t>
            </a:r>
            <a:br/>
            <a:r>
              <a:t>• Digital Receipt Vault &amp; QR scanner.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463040"/>
            <a:ext cx="3328416" cy="46634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08576" y="1645920"/>
            <a:ext cx="29626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7C4DFF"/>
                </a:solidFill>
              </a:defRPr>
            </a:pPr>
            <a:r>
              <a:t>📡 2. Data Node (:8002)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Standalone storage, multicast peer discovery, and global currency collector.</a:t>
            </a:r>
            <a:br/>
            <a:br/>
            <a:r>
              <a:t>• UDP Multicast Heartbeats (224.0.0.251:8001) for zero-config local mesh discovery.</a:t>
            </a:r>
            <a:br/>
            <a:r>
              <a:t>• 170+ ISO Fiat &amp; 50+ Crypto Currency Catalog with air-gapped fallback.</a:t>
            </a:r>
            <a:br/>
            <a:r>
              <a:t>• Encrypted Key-Value store with AES-256-GCM data-at-rest protection.</a:t>
            </a:r>
            <a:br/>
            <a:r>
              <a:t>• Remote lifecycle &amp; maintenance controls.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19872" y="1463040"/>
            <a:ext cx="3328416" cy="46634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2" y="1645920"/>
            <a:ext cx="29626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10B981"/>
                </a:solidFill>
              </a:defRPr>
            </a:pPr>
            <a:r>
              <a:t>🔒 3. Vault Node (:8000)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Cryptographic coordinator &amp; extensible multi-currency tri-ledger database.</a:t>
            </a:r>
            <a:br/>
            <a:br/>
            <a:r>
              <a:t>• Scrypt KDF + TOTP Step-Up MFA authentication.</a:t>
            </a:r>
            <a:br/>
            <a:r>
              <a:t>• SQLite WAL concurrency with BEGIN IMMEDIATE transaction isolation.</a:t>
            </a:r>
            <a:br/>
            <a:r>
              <a:t>• Multi-Currency settlement: USD, ZAR, Zimbabwe Gold (ZiG / ZWG).</a:t>
            </a:r>
            <a:br/>
            <a:r>
              <a:t>• Self-Replicating Node Generator (node_generator.py) for new edge stores.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MODULAR ADAPTIVE DATA NODE (MADN) • OPERATOR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System Architectural Block Diagram &amp; Inter-Node Protocols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291840" cy="42062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50876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50" b="1">
                <a:solidFill>
                  <a:srgbClr val="00E5FF"/>
                </a:solidFill>
              </a:defRPr>
            </a:pPr>
            <a:r>
              <a:t>🖥️ OPERATOR NODE (:8000)</a:t>
            </a:r>
            <a:br/>
            <a:r>
              <a:t>VisionPro Glass Frontend</a:t>
            </a:r>
          </a:p>
          <a:p>
            <a:pPr>
              <a:spcAft>
                <a:spcPts val="300"/>
              </a:spcAft>
              <a:defRPr b="1" sz="1000">
                <a:solidFill>
                  <a:srgbClr val="FFFFFF"/>
                </a:solidFill>
              </a:defRPr>
            </a:pPr>
            <a:r>
              <a:t>• VisionPro SPA Client: </a:t>
            </a:r>
            <a:r>
              <a:rPr b="0">
                <a:solidFill>
                  <a:srgbClr val="94A3B8"/>
                </a:solidFill>
              </a:rPr>
              <a:t>Vanilla ES6+, glassmorphism CSS, hardware canvas.</a:t>
            </a:r>
          </a:p>
          <a:p>
            <a:pPr>
              <a:spcAft>
                <a:spcPts val="300"/>
              </a:spcAft>
              <a:defRPr b="1" sz="1000">
                <a:solidFill>
                  <a:srgbClr val="FFFFFF"/>
                </a:solidFill>
              </a:defRPr>
            </a:pPr>
            <a:r>
              <a:t>• Touch POS &amp; Dynamic Catalog: </a:t>
            </a:r>
            <a:r>
              <a:rPr b="0">
                <a:solidFill>
                  <a:srgbClr val="94A3B8"/>
                </a:solidFill>
              </a:rPr>
              <a:t>Real-time pricing, search, quick cart.</a:t>
            </a:r>
          </a:p>
          <a:p>
            <a:pPr>
              <a:spcAft>
                <a:spcPts val="300"/>
              </a:spcAft>
              <a:defRPr b="1" sz="1000">
                <a:solidFill>
                  <a:srgbClr val="FFFFFF"/>
                </a:solidFill>
              </a:defRPr>
            </a:pPr>
            <a:r>
              <a:t>• Dynamic Subnav Controllers: </a:t>
            </a:r>
            <a:r>
              <a:rPr b="0">
                <a:solidFill>
                  <a:srgbClr val="94A3B8"/>
                </a:solidFill>
              </a:rPr>
              <a:t>Precondition state evaluation (N_biz, N_prod).</a:t>
            </a:r>
          </a:p>
          <a:p>
            <a:pPr>
              <a:spcAft>
                <a:spcPts val="300"/>
              </a:spcAft>
              <a:defRPr b="1" sz="1000">
                <a:solidFill>
                  <a:srgbClr val="FFFFFF"/>
                </a:solidFill>
              </a:defRPr>
            </a:pPr>
            <a:r>
              <a:t>• Organic Avatar Studio: </a:t>
            </a:r>
            <a:r>
              <a:rPr b="0">
                <a:solidFill>
                  <a:srgbClr val="94A3B8"/>
                </a:solidFill>
              </a:rPr>
              <a:t>createImageBitmap GPU scaling &amp; live preview.</a:t>
            </a:r>
          </a:p>
          <a:p>
            <a:pPr>
              <a:spcAft>
                <a:spcPts val="300"/>
              </a:spcAft>
              <a:defRPr b="1" sz="1000">
                <a:solidFill>
                  <a:srgbClr val="FFFFFF"/>
                </a:solidFill>
              </a:defRPr>
            </a:pPr>
            <a:r>
              <a:t>• Customer Receipt Vault: </a:t>
            </a:r>
            <a:r>
              <a:rPr b="0">
                <a:solidFill>
                  <a:srgbClr val="94A3B8"/>
                </a:solidFill>
              </a:rPr>
              <a:t>Encrypted digital receipt lookup &amp; QR scan.</a:t>
            </a:r>
          </a:p>
          <a:p>
            <a:pPr>
              <a:spcAft>
                <a:spcPts val="300"/>
              </a:spcAft>
              <a:defRPr b="1" sz="1000">
                <a:solidFill>
                  <a:srgbClr val="FFFFFF"/>
                </a:solidFill>
              </a:defRPr>
            </a:pPr>
            <a:r>
              <a:t>• Offline QR Voucher Terminal: </a:t>
            </a:r>
            <a:r>
              <a:rPr b="0">
                <a:solidFill>
                  <a:srgbClr val="94A3B8"/>
                </a:solidFill>
              </a:rPr>
              <a:t>Camera scan &amp; instant wallet redemption.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371600"/>
            <a:ext cx="3291840" cy="42062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50876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50" b="1">
                <a:solidFill>
                  <a:srgbClr val="10B981"/>
                </a:solidFill>
              </a:defRPr>
            </a:pPr>
            <a:r>
              <a:t>🔒 VAULT NODE (:8000)</a:t>
            </a:r>
            <a:br/>
            <a:r>
              <a:t>FastAPI &amp; Multi-Ledger Core</a:t>
            </a:r>
          </a:p>
          <a:p>
            <a:pPr>
              <a:spcAft>
                <a:spcPts val="300"/>
              </a:spcAft>
              <a:defRPr b="1" sz="1000">
                <a:solidFill>
                  <a:srgbClr val="FFFFFF"/>
                </a:solidFill>
              </a:defRPr>
            </a:pPr>
            <a:r>
              <a:t>• FastAPI REST Engine: </a:t>
            </a:r>
            <a:r>
              <a:rPr b="0">
                <a:solidFill>
                  <a:srgbClr val="94A3B8"/>
                </a:solidFill>
              </a:rPr>
              <a:t>Asynchronous endpoints, zero-cache headers, CSP.</a:t>
            </a:r>
          </a:p>
          <a:p>
            <a:pPr>
              <a:spcAft>
                <a:spcPts val="300"/>
              </a:spcAft>
              <a:defRPr b="1" sz="1000">
                <a:solidFill>
                  <a:srgbClr val="FFFFFF"/>
                </a:solidFill>
              </a:defRPr>
            </a:pPr>
            <a:r>
              <a:t>• Scrypt &amp; TOTP Auth Engine: </a:t>
            </a:r>
            <a:r>
              <a:rPr b="0">
                <a:solidFill>
                  <a:srgbClr val="94A3B8"/>
                </a:solidFill>
              </a:rPr>
              <a:t>Password hashing, session token cookies, tarpit.</a:t>
            </a:r>
          </a:p>
          <a:p>
            <a:pPr>
              <a:spcAft>
                <a:spcPts val="300"/>
              </a:spcAft>
              <a:defRPr b="1" sz="1000">
                <a:solidFill>
                  <a:srgbClr val="FFFFFF"/>
                </a:solidFill>
              </a:defRPr>
            </a:pPr>
            <a:r>
              <a:t>• SQLite WAL Tri-Ledger: </a:t>
            </a:r>
            <a:r>
              <a:rPr b="0">
                <a:solidFill>
                  <a:srgbClr val="94A3B8"/>
                </a:solidFill>
              </a:rPr>
              <a:t>ACID locks (BEGIN IMMEDIATE), B-tree indexes.</a:t>
            </a:r>
          </a:p>
          <a:p>
            <a:pPr>
              <a:spcAft>
                <a:spcPts val="300"/>
              </a:spcAft>
              <a:defRPr b="1" sz="1000">
                <a:solidFill>
                  <a:srgbClr val="FFFFFF"/>
                </a:solidFill>
              </a:defRPr>
            </a:pPr>
            <a:r>
              <a:t>• Dynamic Pricing Engine: </a:t>
            </a:r>
            <a:r>
              <a:rPr b="0">
                <a:solidFill>
                  <a:srgbClr val="94A3B8"/>
                </a:solidFill>
              </a:rPr>
              <a:t>Continuous exponential decay &amp; cost-floor bounds.</a:t>
            </a:r>
          </a:p>
          <a:p>
            <a:pPr>
              <a:spcAft>
                <a:spcPts val="300"/>
              </a:spcAft>
              <a:defRPr b="1" sz="1000">
                <a:solidFill>
                  <a:srgbClr val="FFFFFF"/>
                </a:solidFill>
              </a:defRPr>
            </a:pPr>
            <a:r>
              <a:t>• Multi-Tender Engine: </a:t>
            </a:r>
            <a:r>
              <a:rPr b="0">
                <a:solidFill>
                  <a:srgbClr val="94A3B8"/>
                </a:solidFill>
              </a:rPr>
              <a:t>Tri-currency basket split (USD, ZAR, ZiG).</a:t>
            </a:r>
          </a:p>
          <a:p>
            <a:pPr>
              <a:spcAft>
                <a:spcPts val="300"/>
              </a:spcAft>
              <a:defRPr b="1" sz="1000">
                <a:solidFill>
                  <a:srgbClr val="FFFFFF"/>
                </a:solidFill>
              </a:defRPr>
            </a:pPr>
            <a:r>
              <a:t>• Offline Voucher Signer: </a:t>
            </a:r>
            <a:r>
              <a:rPr b="0">
                <a:solidFill>
                  <a:srgbClr val="94A3B8"/>
                </a:solidFill>
              </a:rPr>
              <a:t>HMAC-SHA256 digital signature minting.</a:t>
            </a:r>
          </a:p>
          <a:p>
            <a:pPr>
              <a:spcAft>
                <a:spcPts val="300"/>
              </a:spcAft>
              <a:defRPr b="1" sz="1000">
                <a:solidFill>
                  <a:srgbClr val="FFFFFF"/>
                </a:solidFill>
              </a:defRPr>
            </a:pPr>
            <a:r>
              <a:t>• Node Generator Hub: </a:t>
            </a:r>
            <a:r>
              <a:rPr b="0">
                <a:solidFill>
                  <a:srgbClr val="94A3B8"/>
                </a:solidFill>
              </a:rPr>
              <a:t>node_generator.py self-replicating engine.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1371600"/>
            <a:ext cx="3291840" cy="42062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150876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50" b="1">
                <a:solidFill>
                  <a:srgbClr val="7C4DFF"/>
                </a:solidFill>
              </a:defRPr>
            </a:pPr>
            <a:r>
              <a:t>📡 DATA NODE (:8002)</a:t>
            </a:r>
            <a:br/>
            <a:r>
              <a:t>Mesh Discovery &amp; Currency Vault</a:t>
            </a:r>
          </a:p>
          <a:p>
            <a:pPr>
              <a:spcAft>
                <a:spcPts val="300"/>
              </a:spcAft>
              <a:defRPr b="1" sz="1000">
                <a:solidFill>
                  <a:srgbClr val="FFFFFF"/>
                </a:solidFill>
              </a:defRPr>
            </a:pPr>
            <a:r>
              <a:t>• UDP Multicast Beacon: </a:t>
            </a:r>
            <a:r>
              <a:rPr b="0">
                <a:solidFill>
                  <a:srgbClr val="94A3B8"/>
                </a:solidFill>
              </a:rPr>
              <a:t>224.0.0.251:8001 heartbeat broadcast every 5s.</a:t>
            </a:r>
          </a:p>
          <a:p>
            <a:pPr>
              <a:spcAft>
                <a:spcPts val="300"/>
              </a:spcAft>
              <a:defRPr b="1" sz="1000">
                <a:solidFill>
                  <a:srgbClr val="FFFFFF"/>
                </a:solidFill>
              </a:defRPr>
            </a:pPr>
            <a:r>
              <a:t>• World Currency Registry: </a:t>
            </a:r>
            <a:r>
              <a:rPr b="0">
                <a:solidFill>
                  <a:srgbClr val="94A3B8"/>
                </a:solidFill>
              </a:rPr>
              <a:t>170+ ISO fiats + 50+ cryptos with offline cache.</a:t>
            </a:r>
          </a:p>
          <a:p>
            <a:pPr>
              <a:spcAft>
                <a:spcPts val="300"/>
              </a:spcAft>
              <a:defRPr b="1" sz="1000">
                <a:solidFill>
                  <a:srgbClr val="FFFFFF"/>
                </a:solidFill>
              </a:defRPr>
            </a:pPr>
            <a:r>
              <a:t>• Collision Validator: </a:t>
            </a:r>
            <a:r>
              <a:rPr b="0">
                <a:solidFill>
                  <a:srgbClr val="94A3B8"/>
                </a:solidFill>
              </a:rPr>
              <a:t>Multi-tier symbol &amp; namespace protection.</a:t>
            </a:r>
          </a:p>
          <a:p>
            <a:pPr>
              <a:spcAft>
                <a:spcPts val="300"/>
              </a:spcAft>
              <a:defRPr b="1" sz="1000">
                <a:solidFill>
                  <a:srgbClr val="FFFFFF"/>
                </a:solidFill>
              </a:defRPr>
            </a:pPr>
            <a:r>
              <a:t>• Encrypted KV Store: </a:t>
            </a:r>
            <a:r>
              <a:rPr b="0">
                <a:solidFill>
                  <a:srgbClr val="94A3B8"/>
                </a:solidFill>
              </a:rPr>
              <a:t>AES-256-GCM encrypted persistence at rest.</a:t>
            </a:r>
          </a:p>
          <a:p>
            <a:pPr>
              <a:spcAft>
                <a:spcPts val="300"/>
              </a:spcAft>
              <a:defRPr b="1" sz="1000">
                <a:solidFill>
                  <a:srgbClr val="FFFFFF"/>
                </a:solidFill>
              </a:defRPr>
            </a:pPr>
            <a:r>
              <a:t>• Lifecycle API: </a:t>
            </a:r>
            <a:r>
              <a:rPr b="0">
                <a:solidFill>
                  <a:srgbClr val="94A3B8"/>
                </a:solidFill>
              </a:rPr>
              <a:t>Remote activate/deactivate &amp; maintenance mode.</a:t>
            </a:r>
          </a:p>
          <a:p>
            <a:pPr>
              <a:spcAft>
                <a:spcPts val="300"/>
              </a:spcAft>
              <a:defRPr b="1" sz="1000">
                <a:solidFill>
                  <a:srgbClr val="FFFFFF"/>
                </a:solidFill>
              </a:defRPr>
            </a:pPr>
            <a:r>
              <a:t>• Telemetry Collector: </a:t>
            </a:r>
            <a:r>
              <a:rPr b="0">
                <a:solidFill>
                  <a:srgbClr val="94A3B8"/>
                </a:solidFill>
              </a:rPr>
              <a:t>LWW node position &amp; peer health telemetry.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669280"/>
            <a:ext cx="10698480" cy="82296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7150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🔗 LOCAL NETWORK PROTOCOLS &amp; DATA PIPELINES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① Operator ↔ Vault: Local JSON REST + HMAC Bearer &amp; HttpOnly Cookies  |  ② Vault ↔ Data Node: HTTP Collection Sync &amp; Collision Validation  |  ③ Data Node ↔ Local Mesh: UDP Multicast (224.0.0.251:8001) Zero-Config Beacon  |  ④ Vault ↔ Edge Device: Scrypt Derived AES-256-GCM Storage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MODULAR ADAPTIVE DATA NODE (MADN) • OPERATOR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Dynamic Value Systems: Algorithmic Pricing &amp; Multi-Tender Settlement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00E5FF"/>
                </a:solidFill>
              </a:defRPr>
            </a:pPr>
            <a:r>
              <a:t>📉 Continuous Exponential Price Decay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Perishable goods (fresh produce, milk, baked goods) automatically discount in real time based on shelf life while strictly protecting cost floors:</a:t>
            </a:r>
            <a:br/>
            <a:br/>
            <a:r>
              <a:t>P(t) = P_cost + (P_base - P_cost) * e^(-λ t)</a:t>
            </a:r>
            <a:br/>
            <a:r>
              <a:t>where λ = ln(2) / T_half_life</a:t>
            </a:r>
            <a:br/>
            <a:br/>
            <a:r>
              <a:t>• Eliminates food spoilage &amp; waste before expiration.</a:t>
            </a:r>
            <a:br/>
            <a:r>
              <a:t>• Maximizes inventory liquidation velocity.</a:t>
            </a:r>
            <a:br/>
            <a:r>
              <a:t>• Completely autonomous—no manual relabeling required.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64592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F59E0B"/>
                </a:solidFill>
              </a:defRPr>
            </a:pPr>
            <a:r>
              <a:t>💱 Tri-Currency Split Tender &amp; Offline Vouchers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Real-time mixed tender point-of-sale checkout:</a:t>
            </a:r>
            <a:br/>
            <a:br/>
            <a:r>
              <a:t>V_paid = T_USD + (T_ZAR / rate_ZAR) + (T_ZWG / rate_ZWG)</a:t>
            </a:r>
            <a:br/>
            <a:br/>
            <a:r>
              <a:t>• Solves Coin Shortages: Mint cryptographic QR change vouchers when physical coins are unavailable.</a:t>
            </a:r>
            <a:br/>
            <a:r>
              <a:t>• Air-Gapped Verification: HMAC-SHA256 digital signatures prevent counterfeit vouchers and double-spends offline.</a:t>
            </a:r>
            <a:br/>
            <a:r>
              <a:t>• Instant Wallet Redemption: Customers can deposit voucher change into digital banking wallets with zero internet.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MODULAR ADAPTIVE DATA NODE (MADN) • OPERATOR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Precision Agriculture: Autonomous Farm-to-Fork Value Chains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468880" cy="46634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21945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00E5FF"/>
                </a:solidFill>
              </a:defRPr>
            </a:pPr>
            <a:r>
              <a:t>🌱 Step 1: Fields &amp; Plots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Provision physical farm plots with acreage/hectare metrics, soil classifications (Loam, Clay, Sand), and irrigation infrastructure setup (Borehole, Drip, Rainfed, Canal).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463040"/>
            <a:ext cx="2468880" cy="46634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1645920"/>
            <a:ext cx="21945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7C4DFF"/>
                </a:solidFill>
              </a:defRPr>
            </a:pPr>
            <a:r>
              <a:t>🚜 Step 2: Crop Plantings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Structured lifecycle plans from germination to harvest. Fertilizer, labor, and fuel input ledgering linked directly to field plots.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463040"/>
            <a:ext cx="2468880" cy="46634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63640" y="1645920"/>
            <a:ext cx="21945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F59E0B"/>
                </a:solidFill>
              </a:defRPr>
            </a:pPr>
            <a:r>
              <a:t>📊 Step 3: Cost &amp; Price Calc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Automated unit cost calculation factoring seeds, labor, water, and margin targets. Calculates recommended base selling price automatically.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23960" y="1463040"/>
            <a:ext cx="2468880" cy="46634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F29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0" y="1645920"/>
            <a:ext cx="21945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10B981"/>
                </a:solidFill>
              </a:defRPr>
            </a:pPr>
            <a:r>
              <a:t>🏪 Step 4: Harvest POS Sync</a:t>
            </a:r>
          </a:p>
          <a:p>
            <a:pPr>
              <a:defRPr sz="1150">
                <a:solidFill>
                  <a:srgbClr val="94A3B8"/>
                </a:solidFill>
              </a:defRPr>
            </a:pPr>
            <a:r>
              <a:t>Harvested crops instantly populate store inventory catalogs. Automated dynamic SKU generation, live stock decrementing, and revenue routing.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MODULAR ADAPTIVE DATA NODE (MADN) • OPERATOR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Military-Grade Security &amp; Sovereign Zero-Data Exposure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10B981"/>
                </a:solidFill>
              </a:defRPr>
            </a:pPr>
            <a:r>
              <a:t>🛡️ Cryptographic Primitives &amp; RAM Keys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Zero hardcoded secrets and memory-isolated key derivation:</a:t>
            </a:r>
            <a:br/>
            <a:br/>
            <a:r>
              <a:t>• AES-256-GCM Authenticated Encryption at rest for customer receipts, visitor registries, and KV data.</a:t>
            </a:r>
            <a:br/>
            <a:r>
              <a:t>• Scrypt Master Key Derivation (N=32768, r=8, p=1) prioritizing dynamic environment passphrases.</a:t>
            </a:r>
            <a:br/>
            <a:r>
              <a:t>• Tamper-Evident SHA-256 Audit Trails: Chained hash logs where modifying historical entries breaks mathematical verification.</a:t>
            </a:r>
            <a:br/>
            <a:r>
              <a:t>• Dynamic Tarpit Lockouts: Exponential rate-limiting defeating brute-force credential attacks.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645920"/>
            <a:ext cx="45720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7C4DFF"/>
                </a:solidFill>
              </a:defRPr>
            </a:pPr>
            <a:r>
              <a:t>📦 Self-Replicating Sovereign Nodes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Portable node replication and total Git database isolation:</a:t>
            </a:r>
            <a:br/>
            <a:br/>
            <a:r>
              <a:t>• Git Database Isolation: All runtime databases (*.db, *.db-wal) are permanently excluded from git sync, guaranteeing zero sensitive customer data exposure on public repositories.</a:t>
            </a:r>
            <a:br/>
            <a:r>
              <a:t>• Autonomous Node Generator (node_generator.py): Export standalone portable business nodes (e.g. Khumalo Millers, Matopos Dairy) with 1 click.</a:t>
            </a:r>
            <a:br/>
            <a:r>
              <a:t>• Zero-Config Bootstrapper (start.py): Auto-installs virtual environments, resolves missing dependencies, and spins up local services.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MODULAR ADAPTIVE DATA NODE (MADN) • OPERATOR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Exponential Trajectory: The Next Decade of Local Compute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28416" cy="46634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29626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1">
                <a:solidFill>
                  <a:srgbClr val="00E5FF"/>
                </a:solidFill>
              </a:defRPr>
            </a:pPr>
            <a:r>
              <a:t>📶 1. Wi-Fi 8 &amp; mmWave Mesh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Next-gen local wireless will exceed 100 Gbps with sub-millisecond deterministic latency.</a:t>
            </a:r>
            <a:br/>
            <a:br/>
            <a:r>
              <a:t>• Entire neighborhood economies will sync databases across peer meshes without relying on cellular towers or ISP uplinks.</a:t>
            </a:r>
            <a:br/>
            <a:r>
              <a:t>• High-density store-to-store data sharing with zero bandwidth costs.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463040"/>
            <a:ext cx="3328416" cy="46634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08576" y="1645920"/>
            <a:ext cx="29626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1">
                <a:solidFill>
                  <a:srgbClr val="7C4DFF"/>
                </a:solidFill>
              </a:defRPr>
            </a:pPr>
            <a:r>
              <a:t>🧠 2. On-Device NPUs &amp; Edge AI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Neural Processing Units (NPUs) on consumer chips will run quantized LLMs locally at 100+ tokens/sec.</a:t>
            </a:r>
            <a:br/>
            <a:br/>
            <a:r>
              <a:t>• MADN nodes will execute autonomous inventory forecasting, predictive crop yield analysis, and automated market negotiation right on the farm or cash register.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19872" y="1463040"/>
            <a:ext cx="3328416" cy="466344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2" y="1645920"/>
            <a:ext cx="29626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700" b="1">
                <a:solidFill>
                  <a:srgbClr val="10B981"/>
                </a:solidFill>
              </a:defRPr>
            </a:pPr>
            <a:r>
              <a:t>🌍 3. Sovereign Resilient Economies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Decentralization shifts from a theoretical ideal to an undeniable economic advantage.</a:t>
            </a:r>
            <a:br/>
            <a:br/>
            <a:r>
              <a:t>• Communities become immune to hyperinflation, platform de-platforming, and subsea cable cuts.</a:t>
            </a:r>
            <a:br/>
            <a:r>
              <a:t>• Local trade continues seamlessly, privately, and reliably forever.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t>MODULAR ADAPTIVE DATA NODE (MADN) • OPERATOR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Conclusion: Empowering Operators with Sovereign Systems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371600"/>
            <a:ext cx="9997135" cy="4846320"/>
          </a:xfrm>
          <a:prstGeom prst="roundRect">
            <a:avLst/>
          </a:prstGeom>
          <a:solidFill>
            <a:srgbClr val="111827"/>
          </a:solidFill>
          <a:ln w="190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1645920"/>
            <a:ext cx="926561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0E5FF"/>
                </a:solidFill>
              </a:defRPr>
            </a:pPr>
            <a:r>
              <a:t>🎯 Summary &amp; Technical Milestones</a:t>
            </a:r>
          </a:p>
          <a:p>
            <a:pPr>
              <a:spcAft>
                <a:spcPts val="1000"/>
              </a:spcAft>
              <a:defRPr b="1" sz="1300">
                <a:solidFill>
                  <a:srgbClr val="FFFFFF"/>
                </a:solidFill>
              </a:defRPr>
            </a:pPr>
            <a:r>
              <a:t>✔ Local Network Connectivity: </a:t>
            </a:r>
            <a:r>
              <a:rPr b="0">
                <a:solidFill>
                  <a:srgbClr val="94A3B8"/>
                </a:solidFill>
              </a:rPr>
              <a:t>Harnessing multi-gigabit local Wi-Fi and zero-config UDP multicast mesh to eliminate cloud dependency.</a:t>
            </a:r>
          </a:p>
          <a:p>
            <a:pPr>
              <a:spcAft>
                <a:spcPts val="1000"/>
              </a:spcAft>
              <a:defRPr b="1" sz="1300">
                <a:solidFill>
                  <a:srgbClr val="FFFFFF"/>
                </a:solidFill>
              </a:defRPr>
            </a:pPr>
            <a:r>
              <a:t>✔ Composable Operator Framework: </a:t>
            </a:r>
            <a:r>
              <a:rPr b="0">
                <a:solidFill>
                  <a:srgbClr val="94A3B8"/>
                </a:solidFill>
              </a:rPr>
              <a:t>Enabling operators to deploy custom business ledgers, touch POS registers, dynamic pricing, and precision agriculture.</a:t>
            </a:r>
          </a:p>
          <a:p>
            <a:pPr>
              <a:spcAft>
                <a:spcPts val="1000"/>
              </a:spcAft>
              <a:defRPr b="1" sz="1300">
                <a:solidFill>
                  <a:srgbClr val="FFFFFF"/>
                </a:solidFill>
              </a:defRPr>
            </a:pPr>
            <a:r>
              <a:t>✔ 100% Automated Test Matrix: </a:t>
            </a:r>
            <a:r>
              <a:rPr b="0">
                <a:solidFill>
                  <a:srgbClr val="94A3B8"/>
                </a:solidFill>
              </a:rPr>
              <a:t>49 comprehensive unit and integration tests passing with 100% reliability across all security and pricing tiers.</a:t>
            </a:r>
          </a:p>
          <a:p>
            <a:pPr>
              <a:spcAft>
                <a:spcPts val="1000"/>
              </a:spcAft>
              <a:defRPr b="1" sz="1300">
                <a:solidFill>
                  <a:srgbClr val="FFFFFF"/>
                </a:solidFill>
              </a:defRPr>
            </a:pPr>
            <a:r>
              <a:t>✔ Multi-Currency &amp; Zero-Coin Vouchers: </a:t>
            </a:r>
            <a:r>
              <a:rPr b="0">
                <a:solidFill>
                  <a:srgbClr val="94A3B8"/>
                </a:solidFill>
              </a:rPr>
              <a:t>Native ISO standard ZiG/ZWG, USD, and ZAR settlement with cryptographic offline change vouchers.</a:t>
            </a:r>
          </a:p>
          <a:p>
            <a:pPr>
              <a:spcAft>
                <a:spcPts val="1000"/>
              </a:spcAft>
              <a:defRPr b="1" sz="1300">
                <a:solidFill>
                  <a:srgbClr val="FFFFFF"/>
                </a:solidFill>
              </a:defRPr>
            </a:pPr>
            <a:r>
              <a:t>✔ One-Command Bootstrap: </a:t>
            </a:r>
            <a:r>
              <a:rPr b="0">
                <a:solidFill>
                  <a:srgbClr val="94A3B8"/>
                </a:solidFill>
              </a:rPr>
              <a:t>Execute 'python start.py' on any laptop, Raspberry Pi, or server to launch the full autonomous cluster.</a:t>
            </a:r>
          </a:p>
          <a:p>
            <a:pPr>
              <a:defRPr sz="1400" b="1">
                <a:solidFill>
                  <a:srgbClr val="F59E0B"/>
                </a:solidFill>
              </a:defRPr>
            </a:pPr>
            <a:r>
              <a:t>MADN — Local Connectivity • Operator Sovereignty • Continuous Value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